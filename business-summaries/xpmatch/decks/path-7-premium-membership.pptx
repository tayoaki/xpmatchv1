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7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33000</c:v>
                </c:pt>
                <c:pt idx="1">
                  <c:v>129250</c:v>
                </c:pt>
                <c:pt idx="2">
                  <c:v>261250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profit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18600</c:v>
                </c:pt>
                <c:pt idx="1">
                  <c:v>72850</c:v>
                </c:pt>
                <c:pt idx="2">
                  <c:v>147250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b="0" i="0" strike="noStrike" sz="95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C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AED"/>
              </a:solidFill>
              <a:prstDash val="solid"/>
              <a:round/>
            </a:ln>
          </c:spPr>
        </c:majorGridlines>
        <c:numFmt formatCode="$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C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05840"/>
            <a:ext cx="3840480" cy="3840480"/>
          </a:xfrm>
          <a:prstGeom prst="ellipse">
            <a:avLst/>
          </a:prstGeom>
          <a:solidFill>
            <a:srgbClr val="1C7293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017520"/>
            <a:ext cx="2377440" cy="2377440"/>
          </a:xfrm>
          <a:prstGeom prst="ellipse">
            <a:avLst/>
          </a:prstGeom>
          <a:solidFill>
            <a:srgbClr val="E8A33D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PATH 07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Consumer</a:t>
            </a:r>
            <a:endParaRPr lang="en-US" sz="3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Membership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10128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premium plans, group matching, concierge access and member-only inventory.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98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XPMatch, Inc. · Projections under stated assumptions · Sep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claim, and the check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verified. Inputs tested against published prices, September 2026.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3749040" cy="2880360"/>
          </a:xfrm>
          <a:prstGeom prst="roundRect">
            <a:avLst>
              <a:gd name="adj" fmla="val 3175"/>
            </a:avLst>
          </a:prstGeom>
          <a:solidFill>
            <a:srgbClr val="EEF3F5"/>
          </a:solidFill>
          <a:ln/>
          <a:effectLst>
            <a:outerShdw sx="100000" sy="100000" kx="0" ky="0" algn="bl" rotWithShape="0" blurRad="127000" dist="25400" dir="5400000">
              <a:srgbClr val="9AAAB2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CLAIM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299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$1.8M ARR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members at $15 per month.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exact. The price is not achievable.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517904"/>
            <a:ext cx="3749040" cy="2880360"/>
          </a:xfrm>
          <a:prstGeom prst="roundRect">
            <a:avLst>
              <a:gd name="adj" fmla="val 3175"/>
            </a:avLst>
          </a:prstGeom>
          <a:solidFill>
            <a:srgbClr val="FDF3E2"/>
          </a:solidFill>
          <a:ln/>
          <a:effectLst>
            <a:outerShdw sx="100000" sy="100000" kx="0" ky="0" algn="bl" rotWithShape="0" blurRad="127000" dist="25400" dir="5400000">
              <a:srgbClr val="9AAAB2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12064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RESEARCH SAYS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0299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$3.33/mo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78892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Wanderlog Pro — the comparable you cited — sells at $39.99 a YEAR. Your $15/month is $180/year: 3.6× the highest annual price in the category.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market actually pays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 = verified against a cited public source · [E] estimated · [A] assumed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EEF3F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0078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7190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6276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Wanderlog Pro (your cited comparable)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276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$39.99/yr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162763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F7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234086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235915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" y="22677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TripIt Pro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22677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$49.00/yr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226771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85292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EEF3F5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298094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299923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" y="29077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Layla annual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29077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$49.99/yr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90779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49300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F7F9FA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" y="362102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3232" y="363931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" y="35478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Layla monthly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354787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$9.99/mo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354787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13308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EEF3F5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426110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3232" y="427939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" y="4187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assumption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349240" y="41879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$180/yr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589520" y="418795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2834640"/>
            <a:ext cx="3291840" cy="329184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9144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BINDING CONSTRAINT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35024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— compounded by count.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members is 5.9× your Year-3 model's paying base. $180/year is 3.7× the price.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that is a 22× uplift on one line. At a defensible $49, 10,000 members is $490,000.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scenario from 5-revenue-paths-model.xlsx. Change a driver and this moves.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81328"/>
          <a:ext cx="53949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572768"/>
            <a:ext cx="2423160" cy="786384"/>
          </a:xfrm>
          <a:prstGeom prst="roundRect">
            <a:avLst>
              <a:gd name="adj" fmla="val 9302"/>
            </a:avLst>
          </a:prstGeom>
          <a:solidFill>
            <a:srgbClr val="EEF3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355080" y="16550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revenue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18928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$261,250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172200" y="2487168"/>
            <a:ext cx="2423160" cy="786384"/>
          </a:xfrm>
          <a:prstGeom prst="roundRect">
            <a:avLst>
              <a:gd name="adj" fmla="val 9302"/>
            </a:avLst>
          </a:prstGeom>
          <a:solidFill>
            <a:srgbClr val="EEF3F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355080" y="25694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gross profit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28072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$147,250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172200" y="3401568"/>
            <a:ext cx="2423160" cy="786384"/>
          </a:xfrm>
          <a:prstGeom prst="roundRect">
            <a:avLst>
              <a:gd name="adj" fmla="val 9302"/>
            </a:avLst>
          </a:prstGeom>
          <a:solidFill>
            <a:srgbClr val="EEF3F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55080" y="34838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margin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37216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56%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43708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Year-3 FTE required: 0.22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has to be true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conditions. If any fails, the path does not deliver.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6002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5544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at $49–79 a year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8562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premium for the taste profile, not a 3.6× one.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4231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45059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40487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6,000 paying members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70662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3.5× your current Year-3 plan. Creators and the product loop are the channels.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27355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330098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5526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add human delivery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55701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$15–30/month is defensible only with concierge access bundled in — which makes it a service, not a software tier.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2834640"/>
            <a:ext cx="3291840" cy="329184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9144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35024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right long-term engine,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quarter of the assumed price.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line that compounds and the one an acquirer underwrites.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it where the market is and it is still the largest single path in the portfolio.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2026-09-22T16:45:16Z</dcterms:created>
  <dcterms:modified xsi:type="dcterms:W3CDTF">2026-09-22T16:45:16Z</dcterms:modified>
</cp:coreProperties>
</file>