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36000</c:v>
                </c:pt>
                <c:pt idx="1">
                  <c:v>144000</c:v>
                </c:pt>
                <c:pt idx="2">
                  <c:v>324000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-27000</c:v>
                </c:pt>
                <c:pt idx="1">
                  <c:v>132000</c:v>
                </c:pt>
                <c:pt idx="2">
                  <c:v>297000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95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C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05840"/>
            <a:ext cx="3840480" cy="384048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017520"/>
            <a:ext cx="2377440" cy="2377440"/>
          </a:xfrm>
          <a:prstGeom prst="ellipse">
            <a:avLst/>
          </a:prstGeom>
          <a:solidFill>
            <a:srgbClr val="E8A33D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PATH 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White-Label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Concierge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1012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branded XPMatch embedded on a destination's own website, sold as an annual contract.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XPMatch, Inc. · Projections under stated assumptions · Sep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claim, and the check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verified. Inputs tested against published prices, September 2026.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EEF3F5"/>
          </a:solidFill>
          <a:ln/>
          <a:effectLst>
            <a:outerShdw sx="100000" sy="100000" kx="0" ky="0" algn="bl" rotWithShape="0" blurRad="1270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CLAIM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299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$1.2M ARR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clients at $5,000 per month.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 is exact: 20 × $5,000 × 12.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517904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FDF3E2"/>
          </a:solidFill>
          <a:ln/>
          <a:effectLst>
            <a:outerShdw sx="100000" sy="100000" kx="0" ky="0" algn="bl" rotWithShape="0" blurRad="127000" dist="25400" dir="5400000">
              <a:srgbClr val="9AAAB2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12064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SAYS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0299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Price: sound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Count: 8–17%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7889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band is credible. But 20 clients is 8–17% of every DMO on earth with the budget to buy this.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market actually pays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 = verified against a cited public source · [E] estimated · [A] assumed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0078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190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DMOs worldwide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276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~2,400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62763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34086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3591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" y="2267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budget → web, SEO, content, CRM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267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15–28%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26771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298094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29992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2907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implied by a $60k/yr contract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907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$1.1–2.0M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9077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362102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36393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" y="35478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DMOs that raised digital spend in 2026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5478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354787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26110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42793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GuideGeek's DMO partners (with a media brand)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41879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41879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8346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35024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~240 destinations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earth can afford this.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GuideGeek reached about 30 — and it arrived with a media brand, 1.5M users and editorial credibility.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XPMatch would arrive with zero reference customers.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scenario from 5-revenue-paths-model.xlsx. Change a driver and this moves.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81328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5727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55080" y="16550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revenue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8928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$324,000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172200" y="24871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55080" y="2569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gross profit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2807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$297,000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172200" y="34015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55080" y="34838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margin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37216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FTE required: 1.13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to be true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conditions. If any fails, the path does not deliver.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6002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544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the first 6 clients by end of Year 2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8562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$3,000/month each. The first is the hardest and unlocks the rest as references.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423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4505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048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white-label build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066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theming, client admin, SSO, SLAs. 6–10 weeks. It does not exist in the codebase today.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2735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300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5526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procurement cycle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570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DMOs buy on annual budget cycles through RFPs. A deal signed in month 3 may not bill until month 12.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8346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35024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strongest strategic path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the seven.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margin, recurring, and precisely the asset an advisor platform or OTA pays a premium for.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start. Compounds hard.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2026-09-22T16:45:16Z</dcterms:created>
  <dcterms:modified xsi:type="dcterms:W3CDTF">2026-09-22T16:45:16Z</dcterms:modified>
</cp:coreProperties>
</file>