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slide+xml" PartName="/ppt/slides/slide9.xml"/>
  <Override ContentType="application/vnd.openxmlformats-officedocument.presentationml.notesSlide+xml" PartName="/ppt/notesSlides/notesSlide9.xml"/>
  <Override ContentType="application/vnd.openxmlformats-officedocument.presentationml.slide+xml" PartName="/ppt/slides/slide10.xml"/>
  <Override ContentType="application/vnd.openxmlformats-officedocument.presentationml.notesSlide+xml" PartName="/ppt/notesSlides/notesSlide10.xml"/>
  <Override ContentType="application/vnd.openxmlformats-officedocument.presentationml.slide+xml" PartName="/ppt/slides/slide11.xml"/>
  <Override ContentType="application/vnd.openxmlformats-officedocument.presentationml.notesSlide+xml" PartName="/ppt/notesSlides/notesSlide11.xml"/>
  <Override ContentType="application/vnd.openxmlformats-officedocument.presentationml.slide+xml" PartName="/ppt/slides/slide12.xml"/>
  <Override ContentType="application/vnd.openxmlformats-officedocument.presentationml.notesSlide+xml" PartName="/ppt/notesSlides/notesSlide12.xml"/>
  <Override ContentType="application/vnd.openxmlformats-officedocument.presentationml.slide+xml" PartName="/ppt/slides/slide13.xml"/>
  <Override ContentType="application/vnd.openxmlformats-officedocument.presentationml.notesSlide+xml" PartName="/ppt/notesSlides/notesSlide13.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Welcome everyone to this pre-launch overview of XPMatch. We are excited to introduce our innovative travel planning service. XPMatch is designed to provide users with a personalized travel experience by matching their tastes with the perfect place to stay, activities to do, and dining options, all seamlessly integrated into a map. Moreover, this can all be done in under a minute, making travel planning quick and convenient. As we delve into the details, we'll explore how XPMatch is set to change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introduces the XPMatch product and highlights its dual target customer base: travellers and travel advisors. The traveller category includes adults aged 28 to 45 who typically take between two to four leisure trips yearly. They often resort to using multiple tabs and tools like Google Maps to organize their travel plans. On the other hand, the advisor category targets independent travel advisors with up to three years of experience, who often have to repeatedly build client proposals.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In 2026, significant shifts in the travel industry are evident. AI has become a pivotal tool, with 37% of US travellers and 43% of the affluent group using it to plan their trips. This trend, along with the rise of planning fees charged by 78% of travel advisors, highlights evolving business models. Fora reached a $1B valuation, signifying growth and new opportunities for 15,000 advisors, most new to the field. Furthermore, Expedia's acquisition of Layla represents strategic industry movements,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outlines the current situation of our venture. Despite having a built and running product, we are currently facing challenges in generating revenue and acquiring customers. We also lack a system to accept payments at this stage. It's important to note that all figures presented are projections without any trading history. Furthermore, 20 out of 38 modeled assumptions still require verification. The focus must now be on validating these assumptions and progressing towards opening our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highlights our strategic pricing approach with offers priced against competitors. Starting with Trip Pass at $19 for ease of purchase, to Plus at $49 per year, which is competitive with Layla and TripIt Pro. Our Concierge service, ranging from $149 to $399, assures expert review within 48 hours. Lastly, Advisor seats provide high value with an 89% gross margin and a significant lifetime value of $1,600, despite aiming for a $400 customer acquisition cost ceiling.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presents a high-level overview of our model's three-year financial projection. In Year 1, the revenue is projected at $40,123 with a gross profit of $31,980. In Year 2, the revenue increases significantly to $190,673 and a gross profit of $131,331. By Year 3, we expect revenue to reach $427,320 with a gross profit of $295,873. These figures are generated from our detailed 1,761-formula model, reflecting our strategic growth initiatives and operational efficiencies. Note the consistent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In Year 1, the company reports an operating profit of $20,880, but this does not translate into positive Seller's Discretionary Earnings. This result stems from the labor imputed to the two founders working without pay, whose market-equivalent wages surpass the profits generated. This insight speaks volumes about the nature of the initial year as a funded experiment, emphasizing the critical role of founders' unpaid contributions in this phase.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outlines the major financial elements influenced by the place catalog in our business model. Before the catalog was introduced, costs per active user were about $10 per month. Post-catalog, the costs have significantly lowered to a range between $1.40 and $2.00 per month. Our blended gross margin, projected for Year 3, stands at a robust 69%, and specifically, the advisor seat gross margins are at an impressive 89%. To realize these efficiencies and margins, our business capital need—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In this slide, we are looking at a detailed breakdown of revenue from seven different paths, tested and validated against published pricing. The major categories include white-label DMO which generated $324,000, premium memberships at $261,250, and group and corporate sales at $202,500. Booking commissions added $189,274 and a combined revenue share from data and creator campaigns brought in $282,000. This data helps us understand which areas are most profitable and where strategic focus might,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highlights key issues with the portfolio's current reality. The seven paths planned do not reconcile in terms of both financial and staffing resources. Financially, while they total $8.15 million as stated, actual demand calculates to be $1,103,024 in Year 3 due to overlaps where different paths monetize the same activities. From a human resource perspective, 3.34 full-time equivalents (FTEs) are needed, but only 1.25 FTEs are available. This staffing shortfall adds to the complexity,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outlines a sequence of strategic moves planned over time. Start with corporate and group planning, which requires minimal initial setup. Progress to implementing booking links this week, promising high margins. From months 2 to 9, target the white-label destination management organizations, appealing to strategic buyers. Finally, introduce a membership model priced between $49 and $79 as a sustainable revenue source from months 6 to 18.</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discusses potential risks that could lead to the failure of an initiative. Firstly, the unwillingness of consumers to pay is indicated by a Trip Pass conversion rate of less than 2% by week 8. Additionally, if Google integrates the function natively, it poses a significant threat, given its capability to answer travel queries and book accommodations. Furthermore, pricing controlled by Google Places and OpenRouter restricts our ability to manage gross margins. Lastly, founder-dependent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outlines the funding request of $60,061 over twelve months, breaking down into $12,061 for business capital and $48,000 for founder runway. The current funds available are $25,000, leaving a gap of $35,061. The audience should consider how they can bridge this gap or choose an alternative scenario that requires fewer resources. Additionally, we will validate this plan by selling three corporate or concierge trips, providing an initial cash flow and testing the business viability. This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image" Target="../media/Presenton_Native_Image_2.png"/><Relationship Id="rId4" Type="http://schemas.openxmlformats.org/officeDocument/2006/relationships/image" Target="../media/Presenton_Native_Image_3.png"/><Relationship Id="rId5" Type="http://schemas.openxmlformats.org/officeDocument/2006/relationships/image" Target="../media/Presenton_Native_Image_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image" Target="../media/Presenton_Native_Image_6.png"/><Relationship Id="rId4" Type="http://schemas.openxmlformats.org/officeDocument/2006/relationships/image" Target="../media/Presenton_Native_Image_7.png"/><Relationship Id="rId5" Type="http://schemas.openxmlformats.org/officeDocument/2006/relationships/image" Target="../media/Presenton_Native_Image_8.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image" Target="../media/Presenton_Native_Image_6.png"/><Relationship Id="rId4" Type="http://schemas.openxmlformats.org/officeDocument/2006/relationships/image" Target="../media/Presenton_Native_Image_7.png"/><Relationship Id="rId5" Type="http://schemas.openxmlformats.org/officeDocument/2006/relationships/image" Target="../media/Presenton_Native_Image_8.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image" Target="../media/Presenton_Native_Image_6.png"/><Relationship Id="rId4" Type="http://schemas.openxmlformats.org/officeDocument/2006/relationships/image" Target="../media/Presenton_Native_Image_7.png"/><Relationship Id="rId5" Type="http://schemas.openxmlformats.org/officeDocument/2006/relationships/image" Target="../media/Presenton_Native_Image_8.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image" Target="../media/Presenton_Native_Image_7.png"/><Relationship Id="rId4" Type="http://schemas.openxmlformats.org/officeDocument/2006/relationships/image" Target="../media/Presenton_Native_Image_8.png"/><Relationship Id="rId5" Type="http://schemas.openxmlformats.org/officeDocument/2006/relationships/image" Target="../media/Presenton_Native_Image_18.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image" Target="../media/Presenton_Native_Image_6.png"/><Relationship Id="rId4" Type="http://schemas.openxmlformats.org/officeDocument/2006/relationships/image" Target="../media/Presenton_Native_Image_7.png"/><Relationship Id="rId5" Type="http://schemas.openxmlformats.org/officeDocument/2006/relationships/image" Target="../media/Presenton_Native_Image_8.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image" Target="../media/Presenton_Native_Image_7.png"/><Relationship Id="rId4" Type="http://schemas.openxmlformats.org/officeDocument/2006/relationships/image" Target="../media/Presenton_Native_Image_8.png"/><Relationship Id="rId5" Type="http://schemas.openxmlformats.org/officeDocument/2006/relationships/image" Target="../media/Presenton_Native_Image_18.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image" Target="../media/Presenton_Native_Image_6.png"/><Relationship Id="rId4" Type="http://schemas.openxmlformats.org/officeDocument/2006/relationships/image" Target="../media/Presenton_Native_Image_7.png"/><Relationship Id="rId5" Type="http://schemas.openxmlformats.org/officeDocument/2006/relationships/image" Target="../media/Presenton_Native_Image_8.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image" Target="../media/Presenton_Native_Image_7.png"/><Relationship Id="rId4" Type="http://schemas.openxmlformats.org/officeDocument/2006/relationships/image" Target="../media/Presenton_Native_Image_8.png"/><Relationship Id="rId5" Type="http://schemas.openxmlformats.org/officeDocument/2006/relationships/image" Target="../media/Presenton_Native_Image_18.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image" Target="../media/Presenton_Native_Image_6.png"/><Relationship Id="rId4" Type="http://schemas.openxmlformats.org/officeDocument/2006/relationships/image" Target="../media/Presenton_Native_Image_7.png"/><Relationship Id="rId5" Type="http://schemas.openxmlformats.org/officeDocument/2006/relationships/image" Target="../media/Presenton_Native_Image_8.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image" Target="../media/Presenton_Native_Image_6.png"/><Relationship Id="rId4" Type="http://schemas.openxmlformats.org/officeDocument/2006/relationships/image" Target="../media/Presenton_Native_Image_7.png"/><Relationship Id="rId5" Type="http://schemas.openxmlformats.org/officeDocument/2006/relationships/image" Target="../media/Presenton_Native_Image_8.png"/><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00" name="Presenton Native Image 1" descr=""/>
          <p:cNvPicPr/>
          <p:nvPr/>
        </p:nvPicPr>
        <p:blipFill>
          <a:blip r:embed="rId2" cstate="none"/>
          <a:stretch>
            <a:fillRect/>
          </a:stretch>
        </p:blipFill>
        <p:spPr>
          <a:xfrm>
            <a:off x="0" y="3377357"/>
            <a:ext cx="8145066" cy="3480643"/>
          </a:xfrm>
          <a:prstGeom prst="rect">
            <a:avLst/>
          </a:prstGeom>
        </p:spPr>
      </p:pic>
      <p:pic>
        <p:nvPicPr>
          <p:cNvPr id="101" name="Presenton Native Image 2" descr=""/>
          <p:cNvPicPr/>
          <p:nvPr/>
        </p:nvPicPr>
        <p:blipFill>
          <a:blip r:embed="rId3" cstate="none"/>
          <a:stretch>
            <a:fillRect/>
          </a:stretch>
        </p:blipFill>
        <p:spPr>
          <a:xfrm>
            <a:off x="0" y="2965698"/>
            <a:ext cx="7616726" cy="3892302"/>
          </a:xfrm>
          <a:prstGeom prst="rect">
            <a:avLst/>
          </a:prstGeom>
        </p:spPr>
      </p:pic>
      <p:pic>
        <p:nvPicPr>
          <p:cNvPr id="102" name="Presenton Native Image 3" descr=""/>
          <p:cNvPicPr/>
          <p:nvPr/>
        </p:nvPicPr>
        <p:blipFill>
          <a:blip r:embed="rId4" cstate="none"/>
          <a:stretch>
            <a:fillRect/>
          </a:stretch>
        </p:blipFill>
        <p:spPr>
          <a:xfrm>
            <a:off x="6078141" y="0"/>
            <a:ext cx="6113859" cy="1913037"/>
          </a:xfrm>
          <a:prstGeom prst="rect">
            <a:avLst/>
          </a:prstGeom>
        </p:spPr>
      </p:pic>
      <p:pic>
        <p:nvPicPr>
          <p:cNvPr id="103" name="Presenton Native Image 4" descr=""/>
          <p:cNvPicPr/>
          <p:nvPr/>
        </p:nvPicPr>
        <p:blipFill>
          <a:blip r:embed="rId5" cstate="none"/>
          <a:stretch>
            <a:fillRect/>
          </a:stretch>
        </p:blipFill>
        <p:spPr>
          <a:xfrm>
            <a:off x="5549652" y="0"/>
            <a:ext cx="6642348" cy="1501378"/>
          </a:xfrm>
          <a:prstGeom prst="rect">
            <a:avLst/>
          </a:prstGeom>
        </p:spPr>
      </p:pic>
      <p:sp>
        <p:nvSpPr>
          <p:cNvPr id="2" name="Shape 2"/>
          <p:cNvSpPr/>
          <p:nvPr/>
        </p:nvSpPr>
        <p:spPr>
          <a:xfrm>
            <a:off x="0" y="2070795"/>
            <a:ext cx="12211050" cy="1016050"/>
          </a:xfrm>
          <a:prstGeom prst="rect">
            <a:avLst/>
          </a:prstGeom>
          <a:noFill/>
        </p:spPr>
        <p:txBody>
          <a:bodyPr anchor="t" wrap="square" tIns="0" bIns="0" lIns="0" rIns="0">
            <a:normAutofit/>
          </a:bodyPr>
          <a:lstStyle/>
          <a:p>
            <a:pPr algn="ctr">
              <a:lnSpc>
                <a:spcPts val="8000"/>
              </a:lnSpc>
              <a:buNone/>
            </a:pPr>
            <a:r>
              <a:rPr sz="8000" b="1" i="0">
                <a:solidFill>
                  <a:srgbClr val="000000"/>
                </a:solidFill>
                <a:latin typeface="Anton"/>
                <a:ea typeface="Anton"/>
              </a:rPr>
              <a:t>XPMatch</a:t>
            </a:r>
            <a:endParaRPr lang="en-US"/>
          </a:p>
        </p:txBody>
      </p:sp>
      <p:sp>
        <p:nvSpPr>
          <p:cNvPr id="3" name="Shape 3"/>
          <p:cNvSpPr/>
          <p:nvPr/>
        </p:nvSpPr>
        <p:spPr>
          <a:xfrm>
            <a:off x="2706291" y="4239518"/>
            <a:ext cx="6798320" cy="639961"/>
          </a:xfrm>
          <a:prstGeom prst="rect">
            <a:avLst/>
          </a:prstGeom>
          <a:noFill/>
        </p:spPr>
        <p:txBody>
          <a:bodyPr anchor="t" wrap="square" tIns="0" bIns="0" lIns="0" rIns="0">
            <a:normAutofit/>
          </a:bodyPr>
          <a:lstStyle/>
          <a:p>
            <a:pPr algn="ctr">
              <a:lnSpc>
                <a:spcPts val="2520"/>
              </a:lnSpc>
              <a:buNone/>
            </a:pPr>
            <a:r>
              <a:rPr sz="1800" b="1" i="0" spc="11">
                <a:solidFill>
                  <a:srgbClr val="000000"/>
                </a:solidFill>
                <a:latin typeface="Montserrat Semi"/>
                <a:ea typeface="Montserrat Semi"/>
              </a:rPr>
              <a:t>Taste-matched travel planning. A stay, three things to do and three places to eat that fit you, on a map, in</a:t>
            </a:r>
            <a:endParaRPr lang="en-US"/>
          </a:p>
        </p:txBody>
      </p:sp>
      <p:sp>
        <p:nvSpPr>
          <p:cNvPr id="4" name="Shape 4"/>
          <p:cNvSpPr/>
          <p:nvPr/>
        </p:nvSpPr>
        <p:spPr>
          <a:xfrm>
            <a:off x="569416" y="5995988"/>
            <a:ext cx="2187625" cy="189607"/>
          </a:xfrm>
          <a:prstGeom prst="rect">
            <a:avLst/>
          </a:prstGeom>
          <a:noFill/>
        </p:spPr>
        <p:txBody>
          <a:bodyPr anchor="t" wrap="square" tIns="0" bIns="0" lIns="0" rIns="0">
            <a:normAutofit/>
          </a:bodyPr>
          <a:lstStyle/>
          <a:p>
            <a:pPr algn="l">
              <a:lnSpc>
                <a:spcPts val="1493"/>
              </a:lnSpc>
              <a:buNone/>
            </a:pPr>
            <a:r>
              <a:rPr sz="1067" b="0" i="0" spc="27">
                <a:solidFill>
                  <a:srgbClr val="000000"/>
                </a:solidFill>
                <a:latin typeface="Montserrat"/>
                <a:ea typeface="Montserrat"/>
              </a:rPr>
              <a:t>Presenter</a:t>
            </a:r>
            <a:endParaRPr lang="en-US"/>
          </a:p>
        </p:txBody>
      </p:sp>
      <p:sp>
        <p:nvSpPr>
          <p:cNvPr id="5" name="Shape 5"/>
          <p:cNvSpPr/>
          <p:nvPr/>
        </p:nvSpPr>
        <p:spPr>
          <a:xfrm>
            <a:off x="569416" y="6193036"/>
            <a:ext cx="1007418" cy="474166"/>
          </a:xfrm>
          <a:prstGeom prst="rect">
            <a:avLst/>
          </a:prstGeom>
          <a:noFill/>
        </p:spPr>
        <p:txBody>
          <a:bodyPr anchor="t" wrap="square" tIns="0" bIns="0" lIns="0" rIns="0">
            <a:normAutofit/>
          </a:bodyPr>
          <a:lstStyle/>
          <a:p>
            <a:pPr algn="l">
              <a:lnSpc>
                <a:spcPts val="1867"/>
              </a:lnSpc>
              <a:buNone/>
            </a:pPr>
            <a:r>
              <a:rPr sz="1334" b="1" i="0" spc="8">
                <a:solidFill>
                  <a:srgbClr val="000000"/>
                </a:solidFill>
                <a:latin typeface="Montserrat"/>
                <a:ea typeface="Montserrat"/>
              </a:rPr>
              <a:t>Pre-launch Company</a:t>
            </a:r>
            <a:endParaRPr lang="en-US"/>
          </a:p>
        </p:txBody>
      </p:sp>
      <p:sp>
        <p:nvSpPr>
          <p:cNvPr id="6" name="Shape 6"/>
          <p:cNvSpPr/>
          <p:nvPr/>
        </p:nvSpPr>
        <p:spPr>
          <a:xfrm>
            <a:off x="11082338" y="6003875"/>
            <a:ext cx="348407" cy="165795"/>
          </a:xfrm>
          <a:prstGeom prst="rect">
            <a:avLst/>
          </a:prstGeom>
          <a:noFill/>
        </p:spPr>
        <p:txBody>
          <a:bodyPr anchor="t" wrap="square" tIns="0" bIns="0" lIns="0" rIns="0">
            <a:normAutofit/>
          </a:bodyPr>
          <a:lstStyle/>
          <a:p>
            <a:pPr algn="r">
              <a:lnSpc>
                <a:spcPts val="1306"/>
              </a:lnSpc>
              <a:buNone/>
            </a:pPr>
            <a:r>
              <a:rPr sz="933" b="0" i="0" spc="23">
                <a:solidFill>
                  <a:srgbClr val="000000"/>
                </a:solidFill>
                <a:latin typeface="Montserrat"/>
                <a:ea typeface="Montserrat"/>
              </a:rPr>
              <a:t>Date</a:t>
            </a:r>
            <a:endParaRPr lang="en-US"/>
          </a:p>
        </p:txBody>
      </p:sp>
      <p:sp>
        <p:nvSpPr>
          <p:cNvPr id="7" name="Shape 7"/>
          <p:cNvSpPr/>
          <p:nvPr/>
        </p:nvSpPr>
        <p:spPr>
          <a:xfrm>
            <a:off x="10078641" y="6221611"/>
            <a:ext cx="1352252" cy="189607"/>
          </a:xfrm>
          <a:prstGeom prst="rect">
            <a:avLst/>
          </a:prstGeom>
          <a:noFill/>
        </p:spPr>
        <p:txBody>
          <a:bodyPr anchor="t" wrap="square" tIns="0" bIns="0" lIns="0" rIns="0">
            <a:normAutofit/>
          </a:bodyPr>
          <a:lstStyle/>
          <a:p>
            <a:pPr algn="r">
              <a:lnSpc>
                <a:spcPts val="1493"/>
              </a:lnSpc>
              <a:buNone/>
            </a:pPr>
            <a:r>
              <a:rPr sz="1067" b="1" i="0" spc="6">
                <a:solidFill>
                  <a:srgbClr val="000000"/>
                </a:solidFill>
                <a:latin typeface="Montserrat"/>
                <a:ea typeface="Montserrat"/>
              </a:rPr>
              <a:t>September 2026</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04" name="Presenton Native Image 5" descr=""/>
          <p:cNvPicPr/>
          <p:nvPr/>
        </p:nvPicPr>
        <p:blipFill>
          <a:blip r:embed="rId2" cstate="none"/>
          <a:stretch>
            <a:fillRect/>
          </a:stretch>
        </p:blipFill>
        <p:spPr>
          <a:xfrm>
            <a:off x="4593282" y="3565475"/>
            <a:ext cx="7598718" cy="3292525"/>
          </a:xfrm>
          <a:prstGeom prst="rect">
            <a:avLst/>
          </a:prstGeom>
        </p:spPr>
      </p:pic>
      <p:pic>
        <p:nvPicPr>
          <p:cNvPr id="105" name="Presenton Native Image 6" descr=""/>
          <p:cNvPicPr/>
          <p:nvPr/>
        </p:nvPicPr>
        <p:blipFill>
          <a:blip r:embed="rId3" cstate="none"/>
          <a:stretch>
            <a:fillRect/>
          </a:stretch>
        </p:blipFill>
        <p:spPr>
          <a:xfrm>
            <a:off x="4064794" y="3153817"/>
            <a:ext cx="8127206" cy="3704183"/>
          </a:xfrm>
          <a:prstGeom prst="rect">
            <a:avLst/>
          </a:prstGeom>
        </p:spPr>
      </p:pic>
      <p:pic>
        <p:nvPicPr>
          <p:cNvPr id="106" name="Presenton Native Image 7" descr=""/>
          <p:cNvPicPr/>
          <p:nvPr/>
        </p:nvPicPr>
        <p:blipFill>
          <a:blip r:embed="rId4" cstate="none"/>
          <a:stretch>
            <a:fillRect/>
          </a:stretch>
        </p:blipFill>
        <p:spPr>
          <a:xfrm>
            <a:off x="0" y="0"/>
            <a:ext cx="5815608" cy="1856333"/>
          </a:xfrm>
          <a:prstGeom prst="rect">
            <a:avLst/>
          </a:prstGeom>
        </p:spPr>
      </p:pic>
      <p:pic>
        <p:nvPicPr>
          <p:cNvPr id="107" name="Presenton Native Image 8" descr=""/>
          <p:cNvPicPr/>
          <p:nvPr/>
        </p:nvPicPr>
        <p:blipFill>
          <a:blip r:embed="rId5" cstate="none"/>
          <a:stretch>
            <a:fillRect/>
          </a:stretch>
        </p:blipFill>
        <p:spPr>
          <a:xfrm>
            <a:off x="0" y="0"/>
            <a:ext cx="5287119" cy="1444675"/>
          </a:xfrm>
          <a:prstGeom prst="rect">
            <a:avLst/>
          </a:prstGeom>
        </p:spPr>
      </p:pic>
      <p:sp>
        <p:nvSpPr>
          <p:cNvPr id="8" name="Shape 8"/>
          <p:cNvSpPr/>
          <p:nvPr/>
        </p:nvSpPr>
        <p:spPr>
          <a:xfrm>
            <a:off x="507950" y="304800"/>
            <a:ext cx="10938123" cy="1303883"/>
          </a:xfrm>
          <a:prstGeom prst="rect">
            <a:avLst/>
          </a:prstGeom>
          <a:noFill/>
        </p:spPr>
        <p:txBody>
          <a:bodyPr anchor="t" wrap="square" tIns="0" bIns="0" lIns="0" rIns="0">
            <a:normAutofit/>
          </a:bodyPr>
          <a:lstStyle/>
          <a:p>
            <a:pPr algn="l">
              <a:lnSpc>
                <a:spcPts val="10267"/>
              </a:lnSpc>
              <a:buNone/>
            </a:pPr>
            <a:r>
              <a:rPr sz="7334" b="0" i="0">
                <a:solidFill>
                  <a:srgbClr val="000000"/>
                </a:solidFill>
                <a:latin typeface="Anton"/>
                <a:ea typeface="Anton"/>
              </a:rPr>
              <a:t>What XPMatch is</a:t>
            </a:r>
            <a:endParaRPr lang="en-US"/>
          </a:p>
        </p:txBody>
      </p:sp>
      <p:sp>
        <p:nvSpPr>
          <p:cNvPr id="9" name="Shape 9"/>
          <p:cNvSpPr/>
          <p:nvPr/>
        </p:nvSpPr>
        <p:spPr>
          <a:xfrm>
            <a:off x="507950" y="1784747"/>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One product, two buyers.</a:t>
            </a:r>
            <a:endParaRPr lang="en-US"/>
          </a:p>
        </p:txBody>
      </p:sp>
      <p:sp>
        <p:nvSpPr>
          <p:cNvPr id="10" name="Shape 10"/>
          <p:cNvSpPr/>
          <p:nvPr/>
        </p:nvSpPr>
        <p:spPr>
          <a:xfrm>
            <a:off x="507950" y="22672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The traveller — $49/year. Adults 28 to 45 taking two to four trips</a:t>
            </a:r>
            <a:endParaRPr lang="en-US"/>
          </a:p>
        </p:txBody>
      </p:sp>
      <p:sp>
        <p:nvSpPr>
          <p:cNvPr id="11" name="Shape 11"/>
          <p:cNvSpPr/>
          <p:nvPr/>
        </p:nvSpPr>
        <p:spPr>
          <a:xfrm>
            <a:off x="507950" y="27497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The advisor — $49 per seat/month. Travel advisors with 0-3 years</a:t>
            </a:r>
            <a:endParaRPr lang="en-US"/>
          </a:p>
        </p:txBody>
      </p:sp>
      <p:sp>
        <p:nvSpPr>
          <p:cNvPr id="12" name="Shape 12"/>
          <p:cNvSpPr/>
          <p:nvPr/>
        </p:nvSpPr>
        <p:spPr>
          <a:xfrm>
            <a:off x="507950" y="3232249"/>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The difference — Verified Google place links, scored against model</a:t>
            </a:r>
            <a:endParaRPr lang="en-US"/>
          </a:p>
        </p:txBody>
      </p:sp>
      <p:sp>
        <p:nvSpPr>
          <p:cNvPr id="13" name="Shape 13"/>
          <p:cNvSpPr/>
          <p:nvPr/>
        </p:nvSpPr>
        <p:spPr>
          <a:xfrm>
            <a:off x="10859691" y="6242298"/>
            <a:ext cx="601414" cy="189607"/>
          </a:xfrm>
          <a:prstGeom prst="rect">
            <a:avLst/>
          </a:prstGeom>
          <a:noFill/>
        </p:spPr>
        <p:txBody>
          <a:bodyPr anchor="t" wrap="square" tIns="0" bIns="0" lIns="0" rIns="0">
            <a:normAutofit/>
          </a:bodyPr>
          <a:lstStyle/>
          <a:p>
            <a:pPr algn="r">
              <a:lnSpc>
                <a:spcPts val="1493"/>
              </a:lnSpc>
              <a:buNone/>
            </a:pPr>
            <a:r>
              <a:rPr sz="1067" b="1" i="0" spc="6">
                <a:solidFill>
                  <a:srgbClr val="000000"/>
                </a:solidFill>
                <a:latin typeface="Montserrat"/>
                <a:ea typeface="Montserrat"/>
              </a:rPr>
              <a:t>Page</a:t>
            </a:r>
            <a:endParaRPr lang="en-US"/>
          </a:p>
        </p:txBody>
      </p:sp>
      <p:sp>
        <p:nvSpPr>
          <p:cNvPr id="14" name="Shape 14"/>
          <p:cNvSpPr/>
          <p:nvPr/>
        </p:nvSpPr>
        <p:spPr>
          <a:xfrm>
            <a:off x="11442055" y="6242298"/>
            <a:ext cx="319236" cy="189607"/>
          </a:xfrm>
          <a:prstGeom prst="rect">
            <a:avLst/>
          </a:prstGeom>
          <a:noFill/>
        </p:spPr>
        <p:txBody>
          <a:bodyPr anchor="t" wrap="square" tIns="0" bIns="0" lIns="0" rIns="0">
            <a:normAutofit/>
          </a:bodyPr>
          <a:lstStyle/>
          <a:p>
            <a:pPr algn="r">
              <a:lnSpc>
                <a:spcPts val="1493"/>
              </a:lnSpc>
              <a:buNone/>
            </a:pPr>
            <a:r>
              <a:rPr sz="1067" b="0" i="0" spc="6">
                <a:solidFill>
                  <a:srgbClr val="000000"/>
                </a:solidFill>
                <a:latin typeface="Montserrat"/>
                <a:ea typeface="Montserrat"/>
              </a:rPr>
              <a:t>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08" name="Presenton Native Image 9" descr=""/>
          <p:cNvPicPr/>
          <p:nvPr/>
        </p:nvPicPr>
        <p:blipFill>
          <a:blip r:embed="rId2" cstate="none"/>
          <a:stretch>
            <a:fillRect/>
          </a:stretch>
        </p:blipFill>
        <p:spPr>
          <a:xfrm>
            <a:off x="4593282" y="3565475"/>
            <a:ext cx="7598718" cy="3292525"/>
          </a:xfrm>
          <a:prstGeom prst="rect">
            <a:avLst/>
          </a:prstGeom>
        </p:spPr>
      </p:pic>
      <p:pic>
        <p:nvPicPr>
          <p:cNvPr id="109" name="Presenton Native Image 10" descr=""/>
          <p:cNvPicPr/>
          <p:nvPr/>
        </p:nvPicPr>
        <p:blipFill>
          <a:blip r:embed="rId3" cstate="none"/>
          <a:stretch>
            <a:fillRect/>
          </a:stretch>
        </p:blipFill>
        <p:spPr>
          <a:xfrm>
            <a:off x="4064794" y="3153817"/>
            <a:ext cx="8127206" cy="3704183"/>
          </a:xfrm>
          <a:prstGeom prst="rect">
            <a:avLst/>
          </a:prstGeom>
        </p:spPr>
      </p:pic>
      <p:pic>
        <p:nvPicPr>
          <p:cNvPr id="110" name="Presenton Native Image 11" descr=""/>
          <p:cNvPicPr/>
          <p:nvPr/>
        </p:nvPicPr>
        <p:blipFill>
          <a:blip r:embed="rId4" cstate="none"/>
          <a:stretch>
            <a:fillRect/>
          </a:stretch>
        </p:blipFill>
        <p:spPr>
          <a:xfrm>
            <a:off x="0" y="0"/>
            <a:ext cx="5815608" cy="1856333"/>
          </a:xfrm>
          <a:prstGeom prst="rect">
            <a:avLst/>
          </a:prstGeom>
        </p:spPr>
      </p:pic>
      <p:pic>
        <p:nvPicPr>
          <p:cNvPr id="111" name="Presenton Native Image 12" descr=""/>
          <p:cNvPicPr/>
          <p:nvPr/>
        </p:nvPicPr>
        <p:blipFill>
          <a:blip r:embed="rId5" cstate="none"/>
          <a:stretch>
            <a:fillRect/>
          </a:stretch>
        </p:blipFill>
        <p:spPr>
          <a:xfrm>
            <a:off x="0" y="0"/>
            <a:ext cx="5287119" cy="1444675"/>
          </a:xfrm>
          <a:prstGeom prst="rect">
            <a:avLst/>
          </a:prstGeom>
        </p:spPr>
      </p:pic>
      <p:sp>
        <p:nvSpPr>
          <p:cNvPr id="15" name="Shape 15"/>
          <p:cNvSpPr/>
          <p:nvPr/>
        </p:nvSpPr>
        <p:spPr>
          <a:xfrm>
            <a:off x="507950" y="304800"/>
            <a:ext cx="10938123" cy="1303883"/>
          </a:xfrm>
          <a:prstGeom prst="rect">
            <a:avLst/>
          </a:prstGeom>
          <a:noFill/>
        </p:spPr>
        <p:txBody>
          <a:bodyPr anchor="t" wrap="square" tIns="0" bIns="0" lIns="0" rIns="0">
            <a:normAutofit/>
          </a:bodyPr>
          <a:lstStyle/>
          <a:p>
            <a:pPr algn="l">
              <a:lnSpc>
                <a:spcPts val="10267"/>
              </a:lnSpc>
              <a:buNone/>
            </a:pPr>
            <a:r>
              <a:rPr sz="7334" b="0" i="0">
                <a:solidFill>
                  <a:srgbClr val="000000"/>
                </a:solidFill>
                <a:latin typeface="Anton"/>
                <a:ea typeface="Anton"/>
              </a:rPr>
              <a:t>Why now</a:t>
            </a:r>
            <a:endParaRPr lang="en-US"/>
          </a:p>
        </p:txBody>
      </p:sp>
      <p:sp>
        <p:nvSpPr>
          <p:cNvPr id="16" name="Shape 16"/>
          <p:cNvSpPr/>
          <p:nvPr/>
        </p:nvSpPr>
        <p:spPr>
          <a:xfrm>
            <a:off x="507950" y="1784747"/>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37% of US travellers used AI for planning this spring.</a:t>
            </a:r>
            <a:endParaRPr lang="en-US"/>
          </a:p>
        </p:txBody>
      </p:sp>
      <p:sp>
        <p:nvSpPr>
          <p:cNvPr id="17" name="Shape 17"/>
          <p:cNvSpPr/>
          <p:nvPr/>
        </p:nvSpPr>
        <p:spPr>
          <a:xfrm>
            <a:off x="507950" y="22672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43% usage among affluent travellers.</a:t>
            </a:r>
            <a:endParaRPr lang="en-US"/>
          </a:p>
        </p:txBody>
      </p:sp>
      <p:sp>
        <p:nvSpPr>
          <p:cNvPr id="18" name="Shape 18"/>
          <p:cNvSpPr/>
          <p:nvPr/>
        </p:nvSpPr>
        <p:spPr>
          <a:xfrm>
            <a:off x="507950" y="27497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78% of travel advisors now charge a planning fee.</a:t>
            </a:r>
            <a:endParaRPr lang="en-US"/>
          </a:p>
        </p:txBody>
      </p:sp>
      <p:sp>
        <p:nvSpPr>
          <p:cNvPr id="19" name="Shape 19"/>
          <p:cNvSpPr/>
          <p:nvPr/>
        </p:nvSpPr>
        <p:spPr>
          <a:xfrm>
            <a:off x="507950" y="3232249"/>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Fee ranges between $100 and $1,500 per trip.</a:t>
            </a:r>
            <a:endParaRPr lang="en-US"/>
          </a:p>
        </p:txBody>
      </p:sp>
      <p:sp>
        <p:nvSpPr>
          <p:cNvPr id="20" name="Shape 20"/>
          <p:cNvSpPr/>
          <p:nvPr/>
        </p:nvSpPr>
        <p:spPr>
          <a:xfrm>
            <a:off x="507950" y="3714750"/>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Fora reached a $1B valuation with 15,000 advisors.</a:t>
            </a:r>
            <a:endParaRPr lang="en-US"/>
          </a:p>
        </p:txBody>
      </p:sp>
      <p:sp>
        <p:nvSpPr>
          <p:cNvPr id="21" name="Shape 21"/>
          <p:cNvSpPr/>
          <p:nvPr/>
        </p:nvSpPr>
        <p:spPr>
          <a:xfrm>
            <a:off x="507950" y="4197251"/>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97% of these advisors are new to the profession.</a:t>
            </a:r>
            <a:endParaRPr lang="en-US"/>
          </a:p>
        </p:txBody>
      </p:sp>
      <p:sp>
        <p:nvSpPr>
          <p:cNvPr id="22" name="Shape 22"/>
          <p:cNvSpPr/>
          <p:nvPr/>
        </p:nvSpPr>
        <p:spPr>
          <a:xfrm>
            <a:off x="507950" y="4679752"/>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Expedia acquired AI planner Layla in July 2026.</a:t>
            </a:r>
            <a:endParaRPr lang="en-US"/>
          </a:p>
        </p:txBody>
      </p:sp>
      <p:sp>
        <p:nvSpPr>
          <p:cNvPr id="23" name="Shape 23"/>
          <p:cNvSpPr/>
          <p:nvPr/>
        </p:nvSpPr>
        <p:spPr>
          <a:xfrm>
            <a:off x="507950" y="5162252"/>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Layla established both the category and the buyer.</a:t>
            </a:r>
            <a:endParaRPr lang="en-US"/>
          </a:p>
        </p:txBody>
      </p:sp>
      <p:sp>
        <p:nvSpPr>
          <p:cNvPr id="24" name="Shape 24"/>
          <p:cNvSpPr/>
          <p:nvPr/>
        </p:nvSpPr>
        <p:spPr>
          <a:xfrm>
            <a:off x="10859691" y="6242298"/>
            <a:ext cx="601414" cy="189607"/>
          </a:xfrm>
          <a:prstGeom prst="rect">
            <a:avLst/>
          </a:prstGeom>
          <a:noFill/>
        </p:spPr>
        <p:txBody>
          <a:bodyPr anchor="t" wrap="square" tIns="0" bIns="0" lIns="0" rIns="0">
            <a:normAutofit/>
          </a:bodyPr>
          <a:lstStyle/>
          <a:p>
            <a:pPr algn="r">
              <a:lnSpc>
                <a:spcPts val="1493"/>
              </a:lnSpc>
              <a:buNone/>
            </a:pPr>
            <a:r>
              <a:rPr sz="1067" b="1" i="0" spc="6">
                <a:solidFill>
                  <a:srgbClr val="000000"/>
                </a:solidFill>
                <a:latin typeface="Montserrat"/>
                <a:ea typeface="Montserrat"/>
              </a:rPr>
              <a:t>Page</a:t>
            </a:r>
            <a:endParaRPr lang="en-US"/>
          </a:p>
        </p:txBody>
      </p:sp>
      <p:sp>
        <p:nvSpPr>
          <p:cNvPr id="25" name="Shape 25"/>
          <p:cNvSpPr/>
          <p:nvPr/>
        </p:nvSpPr>
        <p:spPr>
          <a:xfrm>
            <a:off x="11442055" y="6242298"/>
            <a:ext cx="319236" cy="189607"/>
          </a:xfrm>
          <a:prstGeom prst="rect">
            <a:avLst/>
          </a:prstGeom>
          <a:noFill/>
        </p:spPr>
        <p:txBody>
          <a:bodyPr anchor="t" wrap="square" tIns="0" bIns="0" lIns="0" rIns="0">
            <a:normAutofit/>
          </a:bodyPr>
          <a:lstStyle/>
          <a:p>
            <a:pPr algn="r">
              <a:lnSpc>
                <a:spcPts val="1493"/>
              </a:lnSpc>
              <a:buNone/>
            </a:pPr>
            <a:r>
              <a:rPr sz="1067" b="0" i="0" spc="6">
                <a:solidFill>
                  <a:srgbClr val="000000"/>
                </a:solidFill>
                <a:latin typeface="Montserrat"/>
                <a:ea typeface="Montserrat"/>
              </a:rPr>
              <a:t>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12" name="Presenton Native Image 13" descr=""/>
          <p:cNvPicPr/>
          <p:nvPr/>
        </p:nvPicPr>
        <p:blipFill>
          <a:blip r:embed="rId2" cstate="none"/>
          <a:stretch>
            <a:fillRect/>
          </a:stretch>
        </p:blipFill>
        <p:spPr>
          <a:xfrm>
            <a:off x="4593282" y="3565475"/>
            <a:ext cx="7598718" cy="3292525"/>
          </a:xfrm>
          <a:prstGeom prst="rect">
            <a:avLst/>
          </a:prstGeom>
        </p:spPr>
      </p:pic>
      <p:pic>
        <p:nvPicPr>
          <p:cNvPr id="113" name="Presenton Native Image 14" descr=""/>
          <p:cNvPicPr/>
          <p:nvPr/>
        </p:nvPicPr>
        <p:blipFill>
          <a:blip r:embed="rId3" cstate="none"/>
          <a:stretch>
            <a:fillRect/>
          </a:stretch>
        </p:blipFill>
        <p:spPr>
          <a:xfrm>
            <a:off x="4064794" y="3153817"/>
            <a:ext cx="8127206" cy="3704183"/>
          </a:xfrm>
          <a:prstGeom prst="rect">
            <a:avLst/>
          </a:prstGeom>
        </p:spPr>
      </p:pic>
      <p:pic>
        <p:nvPicPr>
          <p:cNvPr id="114" name="Presenton Native Image 15" descr=""/>
          <p:cNvPicPr/>
          <p:nvPr/>
        </p:nvPicPr>
        <p:blipFill>
          <a:blip r:embed="rId4" cstate="none"/>
          <a:stretch>
            <a:fillRect/>
          </a:stretch>
        </p:blipFill>
        <p:spPr>
          <a:xfrm>
            <a:off x="0" y="0"/>
            <a:ext cx="5815608" cy="1856333"/>
          </a:xfrm>
          <a:prstGeom prst="rect">
            <a:avLst/>
          </a:prstGeom>
        </p:spPr>
      </p:pic>
      <p:pic>
        <p:nvPicPr>
          <p:cNvPr id="115" name="Presenton Native Image 16" descr=""/>
          <p:cNvPicPr/>
          <p:nvPr/>
        </p:nvPicPr>
        <p:blipFill>
          <a:blip r:embed="rId5" cstate="none"/>
          <a:stretch>
            <a:fillRect/>
          </a:stretch>
        </p:blipFill>
        <p:spPr>
          <a:xfrm>
            <a:off x="0" y="0"/>
            <a:ext cx="5287119" cy="1444675"/>
          </a:xfrm>
          <a:prstGeom prst="rect">
            <a:avLst/>
          </a:prstGeom>
        </p:spPr>
      </p:pic>
      <p:sp>
        <p:nvSpPr>
          <p:cNvPr id="26" name="Shape 26"/>
          <p:cNvSpPr/>
          <p:nvPr/>
        </p:nvSpPr>
        <p:spPr>
          <a:xfrm>
            <a:off x="507950" y="304800"/>
            <a:ext cx="10938123" cy="1303883"/>
          </a:xfrm>
          <a:prstGeom prst="rect">
            <a:avLst/>
          </a:prstGeom>
          <a:noFill/>
        </p:spPr>
        <p:txBody>
          <a:bodyPr anchor="t" wrap="square" tIns="0" bIns="0" lIns="0" rIns="0">
            <a:normAutofit/>
          </a:bodyPr>
          <a:lstStyle/>
          <a:p>
            <a:pPr algn="l">
              <a:lnSpc>
                <a:spcPts val="10267"/>
              </a:lnSpc>
              <a:buNone/>
            </a:pPr>
            <a:r>
              <a:rPr sz="7334" b="0" i="0">
                <a:solidFill>
                  <a:srgbClr val="000000"/>
                </a:solidFill>
                <a:latin typeface="Anton"/>
                <a:ea typeface="Anton"/>
              </a:rPr>
              <a:t>Where We Stand</a:t>
            </a:r>
            <a:endParaRPr lang="en-US"/>
          </a:p>
        </p:txBody>
      </p:sp>
      <p:sp>
        <p:nvSpPr>
          <p:cNvPr id="27" name="Shape 27"/>
          <p:cNvSpPr/>
          <p:nvPr/>
        </p:nvSpPr>
        <p:spPr>
          <a:xfrm>
            <a:off x="507950" y="1784747"/>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Zero revenue, zero customers</a:t>
            </a:r>
            <a:endParaRPr lang="en-US"/>
          </a:p>
        </p:txBody>
      </p:sp>
      <p:sp>
        <p:nvSpPr>
          <p:cNvPr id="28" name="Shape 28"/>
          <p:cNvSpPr/>
          <p:nvPr/>
        </p:nvSpPr>
        <p:spPr>
          <a:xfrm>
            <a:off x="507950" y="22672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No way to accept payment</a:t>
            </a:r>
            <a:endParaRPr lang="en-US"/>
          </a:p>
        </p:txBody>
      </p:sp>
      <p:sp>
        <p:nvSpPr>
          <p:cNvPr id="29" name="Shape 29"/>
          <p:cNvSpPr/>
          <p:nvPr/>
        </p:nvSpPr>
        <p:spPr>
          <a:xfrm>
            <a:off x="507950" y="27497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Product built and running</a:t>
            </a:r>
            <a:endParaRPr lang="en-US"/>
          </a:p>
        </p:txBody>
      </p:sp>
      <p:sp>
        <p:nvSpPr>
          <p:cNvPr id="30" name="Shape 30"/>
          <p:cNvSpPr/>
          <p:nvPr/>
        </p:nvSpPr>
        <p:spPr>
          <a:xfrm>
            <a:off x="507950" y="3232249"/>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Commercial gates ahead</a:t>
            </a:r>
            <a:endParaRPr lang="en-US"/>
          </a:p>
        </p:txBody>
      </p:sp>
      <p:sp>
        <p:nvSpPr>
          <p:cNvPr id="31" name="Shape 31"/>
          <p:cNvSpPr/>
          <p:nvPr/>
        </p:nvSpPr>
        <p:spPr>
          <a:xfrm>
            <a:off x="507950" y="3714750"/>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Figures are projections</a:t>
            </a:r>
            <a:endParaRPr lang="en-US"/>
          </a:p>
        </p:txBody>
      </p:sp>
      <p:sp>
        <p:nvSpPr>
          <p:cNvPr id="32" name="Shape 32"/>
          <p:cNvSpPr/>
          <p:nvPr/>
        </p:nvSpPr>
        <p:spPr>
          <a:xfrm>
            <a:off x="507950" y="4197251"/>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20 of 38 assumptions unverified</a:t>
            </a:r>
            <a:endParaRPr lang="en-US"/>
          </a:p>
        </p:txBody>
      </p:sp>
      <p:sp>
        <p:nvSpPr>
          <p:cNvPr id="33" name="Shape 33"/>
          <p:cNvSpPr/>
          <p:nvPr/>
        </p:nvSpPr>
        <p:spPr>
          <a:xfrm>
            <a:off x="10859691" y="6242298"/>
            <a:ext cx="601414" cy="189607"/>
          </a:xfrm>
          <a:prstGeom prst="rect">
            <a:avLst/>
          </a:prstGeom>
          <a:noFill/>
        </p:spPr>
        <p:txBody>
          <a:bodyPr anchor="t" wrap="square" tIns="0" bIns="0" lIns="0" rIns="0">
            <a:normAutofit/>
          </a:bodyPr>
          <a:lstStyle/>
          <a:p>
            <a:pPr algn="r">
              <a:lnSpc>
                <a:spcPts val="1493"/>
              </a:lnSpc>
              <a:buNone/>
            </a:pPr>
            <a:r>
              <a:rPr sz="1067" b="1" i="0" spc="6">
                <a:solidFill>
                  <a:srgbClr val="000000"/>
                </a:solidFill>
                <a:latin typeface="Montserrat"/>
                <a:ea typeface="Montserrat"/>
              </a:rPr>
              <a:t>Page</a:t>
            </a:r>
            <a:endParaRPr lang="en-US"/>
          </a:p>
        </p:txBody>
      </p:sp>
      <p:sp>
        <p:nvSpPr>
          <p:cNvPr id="34" name="Shape 34"/>
          <p:cNvSpPr/>
          <p:nvPr/>
        </p:nvSpPr>
        <p:spPr>
          <a:xfrm>
            <a:off x="11442055" y="6242298"/>
            <a:ext cx="319236" cy="189607"/>
          </a:xfrm>
          <a:prstGeom prst="rect">
            <a:avLst/>
          </a:prstGeom>
          <a:noFill/>
        </p:spPr>
        <p:txBody>
          <a:bodyPr anchor="t" wrap="square" tIns="0" bIns="0" lIns="0" rIns="0">
            <a:normAutofit/>
          </a:bodyPr>
          <a:lstStyle/>
          <a:p>
            <a:pPr algn="r">
              <a:lnSpc>
                <a:spcPts val="1493"/>
              </a:lnSpc>
              <a:buNone/>
            </a:pPr>
            <a:r>
              <a:rPr sz="1067" b="0" i="0" spc="6">
                <a:solidFill>
                  <a:srgbClr val="000000"/>
                </a:solidFill>
                <a:latin typeface="Montserrat"/>
                <a:ea typeface="Montserrat"/>
              </a:rPr>
              <a:t>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16" name="Presenton Native Image 17" descr=""/>
          <p:cNvPicPr/>
          <p:nvPr/>
        </p:nvPicPr>
        <p:blipFill>
          <a:blip r:embed="rId2" cstate="none"/>
          <a:stretch>
            <a:fillRect/>
          </a:stretch>
        </p:blipFill>
        <p:spPr>
          <a:xfrm>
            <a:off x="4593282" y="3565475"/>
            <a:ext cx="7598718" cy="3292525"/>
          </a:xfrm>
          <a:prstGeom prst="rect">
            <a:avLst/>
          </a:prstGeom>
        </p:spPr>
      </p:pic>
      <p:pic>
        <p:nvPicPr>
          <p:cNvPr id="117" name="Presenton Native Image 18" descr=""/>
          <p:cNvPicPr/>
          <p:nvPr/>
        </p:nvPicPr>
        <p:blipFill>
          <a:blip r:embed="rId5" cstate="none"/>
          <a:stretch>
            <a:fillRect/>
          </a:stretch>
        </p:blipFill>
        <p:spPr>
          <a:xfrm>
            <a:off x="4064794" y="3153817"/>
            <a:ext cx="8127206" cy="3704183"/>
          </a:xfrm>
          <a:prstGeom prst="rect">
            <a:avLst/>
          </a:prstGeom>
        </p:spPr>
      </p:pic>
      <p:pic>
        <p:nvPicPr>
          <p:cNvPr id="118" name="Presenton Native Image 19" descr=""/>
          <p:cNvPicPr/>
          <p:nvPr/>
        </p:nvPicPr>
        <p:blipFill>
          <a:blip r:embed="rId3" cstate="none"/>
          <a:stretch>
            <a:fillRect/>
          </a:stretch>
        </p:blipFill>
        <p:spPr>
          <a:xfrm>
            <a:off x="0" y="0"/>
            <a:ext cx="5815608" cy="1856333"/>
          </a:xfrm>
          <a:prstGeom prst="rect">
            <a:avLst/>
          </a:prstGeom>
        </p:spPr>
      </p:pic>
      <p:pic>
        <p:nvPicPr>
          <p:cNvPr id="119" name="Presenton Native Image 20" descr=""/>
          <p:cNvPicPr/>
          <p:nvPr/>
        </p:nvPicPr>
        <p:blipFill>
          <a:blip r:embed="rId4" cstate="none"/>
          <a:stretch>
            <a:fillRect/>
          </a:stretch>
        </p:blipFill>
        <p:spPr>
          <a:xfrm>
            <a:off x="0" y="0"/>
            <a:ext cx="5287119" cy="1444675"/>
          </a:xfrm>
          <a:prstGeom prst="rect">
            <a:avLst/>
          </a:prstGeom>
        </p:spPr>
      </p:pic>
      <p:sp>
        <p:nvSpPr>
          <p:cNvPr id="35" name="Shape 35"/>
          <p:cNvSpPr/>
          <p:nvPr/>
        </p:nvSpPr>
        <p:spPr>
          <a:xfrm>
            <a:off x="507950" y="304800"/>
            <a:ext cx="10938123" cy="1303883"/>
          </a:xfrm>
          <a:prstGeom prst="rect">
            <a:avLst/>
          </a:prstGeom>
          <a:noFill/>
        </p:spPr>
        <p:txBody>
          <a:bodyPr anchor="t" wrap="square" tIns="0" bIns="0" lIns="0" rIns="0">
            <a:normAutofit/>
          </a:bodyPr>
          <a:lstStyle/>
          <a:p>
            <a:pPr algn="l">
              <a:lnSpc>
                <a:spcPts val="10267"/>
              </a:lnSpc>
              <a:buNone/>
            </a:pPr>
            <a:r>
              <a:rPr sz="7334" b="0" i="0">
                <a:solidFill>
                  <a:srgbClr val="000000"/>
                </a:solidFill>
                <a:latin typeface="Anton"/>
                <a:ea typeface="Anton"/>
              </a:rPr>
              <a:t>The Offer Ladder</a:t>
            </a:r>
            <a:endParaRPr lang="en-US"/>
          </a:p>
        </p:txBody>
      </p:sp>
      <p:sp>
        <p:nvSpPr>
          <p:cNvPr id="36" name="Shape 36"/>
          <p:cNvSpPr/>
          <p:nvPr/>
        </p:nvSpPr>
        <p:spPr>
          <a:xfrm>
            <a:off x="507950" y="1784747"/>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Trip Pass — $19 for one trip, 60 days. First purchase ease.</a:t>
            </a:r>
            <a:endParaRPr lang="en-US"/>
          </a:p>
        </p:txBody>
      </p:sp>
      <p:sp>
        <p:nvSpPr>
          <p:cNvPr id="37" name="Shape 37"/>
          <p:cNvSpPr/>
          <p:nvPr/>
        </p:nvSpPr>
        <p:spPr>
          <a:xfrm>
            <a:off x="507950" y="22672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Plus — $49 per year. Matches Layla and TripIt Pro.</a:t>
            </a:r>
            <a:endParaRPr lang="en-US"/>
          </a:p>
        </p:txBody>
      </p:sp>
      <p:sp>
        <p:nvSpPr>
          <p:cNvPr id="38" name="Shape 38"/>
          <p:cNvSpPr/>
          <p:nvPr/>
        </p:nvSpPr>
        <p:spPr>
          <a:xfrm>
            <a:off x="507950" y="27497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Concierge — $149 to $399 per trip, 48-hour delivery.</a:t>
            </a:r>
            <a:endParaRPr lang="en-US"/>
          </a:p>
        </p:txBody>
      </p:sp>
      <p:sp>
        <p:nvSpPr>
          <p:cNvPr id="39" name="Shape 39"/>
          <p:cNvSpPr/>
          <p:nvPr/>
        </p:nvSpPr>
        <p:spPr>
          <a:xfrm>
            <a:off x="507950" y="3232249"/>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Advisor seats — $49 per month. 89% margin, $1,600 LTV.</a:t>
            </a:r>
            <a:endParaRPr lang="en-US"/>
          </a:p>
        </p:txBody>
      </p:sp>
      <p:sp>
        <p:nvSpPr>
          <p:cNvPr id="40" name="Shape 40"/>
          <p:cNvSpPr/>
          <p:nvPr/>
        </p:nvSpPr>
        <p:spPr>
          <a:xfrm>
            <a:off x="10859691" y="6242298"/>
            <a:ext cx="601414" cy="189607"/>
          </a:xfrm>
          <a:prstGeom prst="rect">
            <a:avLst/>
          </a:prstGeom>
          <a:noFill/>
        </p:spPr>
        <p:txBody>
          <a:bodyPr anchor="t" wrap="square" tIns="0" bIns="0" lIns="0" rIns="0">
            <a:normAutofit/>
          </a:bodyPr>
          <a:lstStyle/>
          <a:p>
            <a:pPr algn="r">
              <a:lnSpc>
                <a:spcPts val="1493"/>
              </a:lnSpc>
              <a:buNone/>
            </a:pPr>
            <a:r>
              <a:rPr sz="1067" b="1" i="0" spc="6">
                <a:solidFill>
                  <a:srgbClr val="000000"/>
                </a:solidFill>
                <a:latin typeface="Montserrat"/>
                <a:ea typeface="Montserrat"/>
              </a:rPr>
              <a:t>Page</a:t>
            </a:r>
            <a:endParaRPr lang="en-US"/>
          </a:p>
        </p:txBody>
      </p:sp>
      <p:sp>
        <p:nvSpPr>
          <p:cNvPr id="41" name="Shape 41"/>
          <p:cNvSpPr/>
          <p:nvPr/>
        </p:nvSpPr>
        <p:spPr>
          <a:xfrm>
            <a:off x="11442055" y="6242298"/>
            <a:ext cx="319236" cy="189607"/>
          </a:xfrm>
          <a:prstGeom prst="rect">
            <a:avLst/>
          </a:prstGeom>
          <a:noFill/>
        </p:spPr>
        <p:txBody>
          <a:bodyPr anchor="t" wrap="square" tIns="0" bIns="0" lIns="0" rIns="0">
            <a:normAutofit/>
          </a:bodyPr>
          <a:lstStyle/>
          <a:p>
            <a:pPr algn="r">
              <a:lnSpc>
                <a:spcPts val="1493"/>
              </a:lnSpc>
              <a:buNone/>
            </a:pPr>
            <a:r>
              <a:rPr sz="1067" b="0" i="0" spc="6">
                <a:solidFill>
                  <a:srgbClr val="000000"/>
                </a:solidFill>
                <a:latin typeface="Montserrat"/>
                <a:ea typeface="Montserrat"/>
              </a:rPr>
              <a:t>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20" name="Presenton Native Image 21" descr=""/>
          <p:cNvPicPr/>
          <p:nvPr/>
        </p:nvPicPr>
        <p:blipFill>
          <a:blip r:embed="rId2" cstate="none"/>
          <a:stretch>
            <a:fillRect/>
          </a:stretch>
        </p:blipFill>
        <p:spPr>
          <a:xfrm>
            <a:off x="4593282" y="3565475"/>
            <a:ext cx="7598718" cy="3292525"/>
          </a:xfrm>
          <a:prstGeom prst="rect">
            <a:avLst/>
          </a:prstGeom>
        </p:spPr>
      </p:pic>
      <p:pic>
        <p:nvPicPr>
          <p:cNvPr id="121" name="Presenton Native Image 22" descr=""/>
          <p:cNvPicPr/>
          <p:nvPr/>
        </p:nvPicPr>
        <p:blipFill>
          <a:blip r:embed="rId3" cstate="none"/>
          <a:stretch>
            <a:fillRect/>
          </a:stretch>
        </p:blipFill>
        <p:spPr>
          <a:xfrm>
            <a:off x="4064794" y="3153817"/>
            <a:ext cx="8127206" cy="3704183"/>
          </a:xfrm>
          <a:prstGeom prst="rect">
            <a:avLst/>
          </a:prstGeom>
        </p:spPr>
      </p:pic>
      <p:pic>
        <p:nvPicPr>
          <p:cNvPr id="122" name="Presenton Native Image 23" descr=""/>
          <p:cNvPicPr/>
          <p:nvPr/>
        </p:nvPicPr>
        <p:blipFill>
          <a:blip r:embed="rId4" cstate="none"/>
          <a:stretch>
            <a:fillRect/>
          </a:stretch>
        </p:blipFill>
        <p:spPr>
          <a:xfrm>
            <a:off x="0" y="0"/>
            <a:ext cx="5815608" cy="1856333"/>
          </a:xfrm>
          <a:prstGeom prst="rect">
            <a:avLst/>
          </a:prstGeom>
        </p:spPr>
      </p:pic>
      <p:pic>
        <p:nvPicPr>
          <p:cNvPr id="123" name="Presenton Native Image 24" descr=""/>
          <p:cNvPicPr/>
          <p:nvPr/>
        </p:nvPicPr>
        <p:blipFill>
          <a:blip r:embed="rId5" cstate="none"/>
          <a:stretch>
            <a:fillRect/>
          </a:stretch>
        </p:blipFill>
        <p:spPr>
          <a:xfrm>
            <a:off x="0" y="0"/>
            <a:ext cx="5287119" cy="1444675"/>
          </a:xfrm>
          <a:prstGeom prst="rect">
            <a:avLst/>
          </a:prstGeom>
        </p:spPr>
      </p:pic>
      <p:sp>
        <p:nvSpPr>
          <p:cNvPr id="42" name="Shape 42"/>
          <p:cNvSpPr/>
          <p:nvPr/>
        </p:nvSpPr>
        <p:spPr>
          <a:xfrm>
            <a:off x="507950" y="304800"/>
            <a:ext cx="10938123" cy="1303883"/>
          </a:xfrm>
          <a:prstGeom prst="rect">
            <a:avLst/>
          </a:prstGeom>
          <a:noFill/>
        </p:spPr>
        <p:txBody>
          <a:bodyPr anchor="t" wrap="square" tIns="0" bIns="0" lIns="0" rIns="0">
            <a:normAutofit/>
          </a:bodyPr>
          <a:lstStyle/>
          <a:p>
            <a:pPr algn="l">
              <a:lnSpc>
                <a:spcPts val="10267"/>
              </a:lnSpc>
              <a:buNone/>
            </a:pPr>
            <a:r>
              <a:rPr sz="7334" b="0" i="0">
                <a:solidFill>
                  <a:srgbClr val="000000"/>
                </a:solidFill>
                <a:latin typeface="Anton"/>
                <a:ea typeface="Anton"/>
              </a:rPr>
              <a:t>The Core Model</a:t>
            </a:r>
            <a:endParaRPr lang="en-US"/>
          </a:p>
        </p:txBody>
      </p:sp>
      <p:sp>
        <p:nvSpPr>
          <p:cNvPr id="43" name="Shape 43"/>
          <p:cNvSpPr/>
          <p:nvPr/>
        </p:nvSpPr>
        <p:spPr>
          <a:xfrm>
            <a:off x="507950" y="1784747"/>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Three-year projection from a live 1,761-formula model.</a:t>
            </a:r>
            <a:endParaRPr lang="en-US"/>
          </a:p>
        </p:txBody>
      </p:sp>
      <p:sp>
        <p:nvSpPr>
          <p:cNvPr id="44" name="Shape 44"/>
          <p:cNvSpPr/>
          <p:nvPr/>
        </p:nvSpPr>
        <p:spPr>
          <a:xfrm>
            <a:off x="507950" y="22672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Year 1: revenue $40,123, gross profit $31,980.</a:t>
            </a:r>
            <a:endParaRPr lang="en-US"/>
          </a:p>
        </p:txBody>
      </p:sp>
      <p:sp>
        <p:nvSpPr>
          <p:cNvPr id="45" name="Shape 45"/>
          <p:cNvSpPr/>
          <p:nvPr/>
        </p:nvSpPr>
        <p:spPr>
          <a:xfrm>
            <a:off x="507950" y="27497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Year 2: revenue $190,673, gross profit $131,331.</a:t>
            </a:r>
            <a:endParaRPr lang="en-US"/>
          </a:p>
        </p:txBody>
      </p:sp>
      <p:sp>
        <p:nvSpPr>
          <p:cNvPr id="46" name="Shape 46"/>
          <p:cNvSpPr/>
          <p:nvPr/>
        </p:nvSpPr>
        <p:spPr>
          <a:xfrm>
            <a:off x="507950" y="3232249"/>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Year 3: revenue $427,320, gross profit $295,873.</a:t>
            </a:r>
            <a:endParaRPr lang="en-US"/>
          </a:p>
        </p:txBody>
      </p:sp>
      <p:sp>
        <p:nvSpPr>
          <p:cNvPr id="47" name="Shape 47"/>
          <p:cNvSpPr/>
          <p:nvPr/>
        </p:nvSpPr>
        <p:spPr>
          <a:xfrm>
            <a:off x="10859691" y="6242298"/>
            <a:ext cx="601414" cy="189607"/>
          </a:xfrm>
          <a:prstGeom prst="rect">
            <a:avLst/>
          </a:prstGeom>
          <a:noFill/>
        </p:spPr>
        <p:txBody>
          <a:bodyPr anchor="t" wrap="square" tIns="0" bIns="0" lIns="0" rIns="0">
            <a:normAutofit/>
          </a:bodyPr>
          <a:lstStyle/>
          <a:p>
            <a:pPr algn="r">
              <a:lnSpc>
                <a:spcPts val="1493"/>
              </a:lnSpc>
              <a:buNone/>
            </a:pPr>
            <a:r>
              <a:rPr sz="1067" b="1" i="0" spc="6">
                <a:solidFill>
                  <a:srgbClr val="000000"/>
                </a:solidFill>
                <a:latin typeface="Montserrat"/>
                <a:ea typeface="Montserrat"/>
              </a:rPr>
              <a:t>Page</a:t>
            </a:r>
            <a:endParaRPr lang="en-US"/>
          </a:p>
        </p:txBody>
      </p:sp>
      <p:sp>
        <p:nvSpPr>
          <p:cNvPr id="48" name="Shape 48"/>
          <p:cNvSpPr/>
          <p:nvPr/>
        </p:nvSpPr>
        <p:spPr>
          <a:xfrm>
            <a:off x="11442055" y="6242298"/>
            <a:ext cx="319236" cy="189607"/>
          </a:xfrm>
          <a:prstGeom prst="rect">
            <a:avLst/>
          </a:prstGeom>
          <a:noFill/>
        </p:spPr>
        <p:txBody>
          <a:bodyPr anchor="t" wrap="square" tIns="0" bIns="0" lIns="0" rIns="0">
            <a:normAutofit/>
          </a:bodyPr>
          <a:lstStyle/>
          <a:p>
            <a:pPr algn="r">
              <a:lnSpc>
                <a:spcPts val="1493"/>
              </a:lnSpc>
              <a:buNone/>
            </a:pPr>
            <a:r>
              <a:rPr sz="1067" b="0" i="0" spc="6">
                <a:solidFill>
                  <a:srgbClr val="000000"/>
                </a:solidFill>
                <a:latin typeface="Montserrat"/>
                <a:ea typeface="Montserrat"/>
              </a:rPr>
              <a:t>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9" name="Shape 49"/>
          <p:cNvSpPr/>
          <p:nvPr/>
        </p:nvSpPr>
        <p:spPr>
          <a:xfrm>
            <a:off x="504825" y="485775"/>
            <a:ext cx="11201400" cy="460028"/>
          </a:xfrm>
          <a:prstGeom prst="rect">
            <a:avLst/>
          </a:prstGeom>
          <a:noFill/>
        </p:spPr>
        <p:txBody>
          <a:bodyPr anchor="t" wrap="square" tIns="0" bIns="0" lIns="0" rIns="0">
            <a:normAutofit/>
          </a:bodyPr>
          <a:lstStyle/>
          <a:p>
            <a:pPr algn="ctr">
              <a:lnSpc>
                <a:spcPts val="3622"/>
              </a:lnSpc>
              <a:buNone/>
            </a:pPr>
            <a:r>
              <a:rPr sz="3450" b="0" i="0" spc="0">
                <a:solidFill>
                  <a:srgbClr val="000000"/>
                </a:solidFill>
                <a:latin typeface="Anton"/>
                <a:ea typeface="Anton"/>
              </a:rPr>
              <a:t>Year-1 SDE is negative $5,575</a:t>
            </a:r>
            <a:endParaRPr lang="en-US"/>
          </a:p>
        </p:txBody>
      </p:sp>
      <p:sp>
        <p:nvSpPr>
          <p:cNvPr id="50" name="Shape 50"/>
          <p:cNvSpPr/>
          <p:nvPr/>
        </p:nvSpPr>
        <p:spPr>
          <a:xfrm>
            <a:off x="1429941" y="1504057"/>
            <a:ext cx="9372600" cy="474166"/>
          </a:xfrm>
          <a:prstGeom prst="rect">
            <a:avLst/>
          </a:prstGeom>
          <a:noFill/>
        </p:spPr>
        <p:txBody>
          <a:bodyPr anchor="t" wrap="square" tIns="0" bIns="0" lIns="0" rIns="0">
            <a:normAutofit/>
          </a:bodyPr>
          <a:lstStyle/>
          <a:p>
            <a:pPr algn="ctr">
              <a:lnSpc>
                <a:spcPts val="1867"/>
              </a:lnSpc>
              <a:buNone/>
            </a:pPr>
            <a:r>
              <a:rPr sz="1334" b="1" i="0" spc="8">
                <a:solidFill>
                  <a:srgbClr val="000000"/>
                </a:solidFill>
                <a:latin typeface="Montserrat Medium"/>
                <a:ea typeface="Montserrat Medium"/>
              </a:rPr>
              <a:t>This is the key figure in the analysis: Year 1 operating profit is $20,880, yet SDE is negative $5,575 due to unpaid founder work.</a:t>
            </a:r>
            <a:endParaRPr lang="en-US"/>
          </a:p>
        </p:txBody>
      </p:sp>
      <p:sp>
        <p:nvSpPr>
          <p:cNvPr id="51" name="Shape 51"/>
          <p:cNvSpPr/>
          <p:nvPr/>
        </p:nvSpPr>
        <p:spPr>
          <a:xfrm>
            <a:off x="3686175" y="2352675"/>
            <a:ext cx="4819650" cy="3905250"/>
          </a:xfrm>
          <a:prstGeom prst="roundRect">
            <a:avLst>
              <a:gd name="adj" fmla="val 3659"/>
            </a:avLst>
          </a:prstGeom>
          <a:solidFill>
            <a:srgbClr val="F8F7FB"/>
          </a:solidFill>
        </p:spPr>
        <p:txBody>
          <a:bodyPr/>
          <a:lstStyle/>
          <a:p/>
        </p:txBody>
      </p:sp>
      <p:pic>
        <p:nvPicPr>
          <p:cNvPr id="124" name="Presenton Native Image 25" descr=""/>
          <p:cNvPicPr/>
          <p:nvPr/>
        </p:nvPicPr>
        <p:blipFill>
          <a:blip r:embed="rId2" cstate="none"/>
          <a:stretch>
            <a:fillRect/>
          </a:stretch>
        </p:blipFill>
        <p:spPr>
          <a:xfrm>
            <a:off x="4381500" y="2514600"/>
            <a:ext cx="3429000" cy="2505075"/>
          </a:xfrm>
          <a:prstGeom prst="rect">
            <a:avLst/>
          </a:prstGeom>
        </p:spPr>
      </p:pic>
      <p:sp>
        <p:nvSpPr>
          <p:cNvPr id="52" name="Shape 52"/>
          <p:cNvSpPr/>
          <p:nvPr/>
        </p:nvSpPr>
        <p:spPr>
          <a:xfrm>
            <a:off x="4543425" y="5248275"/>
            <a:ext cx="3124200" cy="304651"/>
          </a:xfrm>
          <a:prstGeom prst="rect">
            <a:avLst/>
          </a:prstGeom>
          <a:noFill/>
        </p:spPr>
        <p:txBody>
          <a:bodyPr anchor="t" wrap="square" tIns="0" bIns="0" lIns="0" rIns="0">
            <a:normAutofit/>
          </a:bodyPr>
          <a:lstStyle/>
          <a:p>
            <a:pPr algn="ctr">
              <a:lnSpc>
                <a:spcPts val="2400"/>
              </a:lnSpc>
              <a:buNone/>
            </a:pPr>
            <a:r>
              <a:rPr sz="1600" b="1" i="0" spc="9">
                <a:solidFill>
                  <a:srgbClr val="5F4F9B"/>
                </a:solidFill>
                <a:latin typeface="Montserrat"/>
                <a:ea typeface="Montserrat"/>
              </a:rPr>
              <a:t>Year 1 Breakdown</a:t>
            </a:r>
            <a:endParaRPr lang="en-US"/>
          </a:p>
        </p:txBody>
      </p:sp>
      <p:sp>
        <p:nvSpPr>
          <p:cNvPr id="53" name="Shape 53"/>
          <p:cNvSpPr/>
          <p:nvPr/>
        </p:nvSpPr>
        <p:spPr>
          <a:xfrm>
            <a:off x="4152900" y="5600700"/>
            <a:ext cx="3905250" cy="331589"/>
          </a:xfrm>
          <a:prstGeom prst="rect">
            <a:avLst/>
          </a:prstGeom>
          <a:noFill/>
        </p:spPr>
        <p:txBody>
          <a:bodyPr anchor="t" wrap="square" tIns="0" bIns="0" lIns="0" rIns="0">
            <a:normAutofit/>
          </a:bodyPr>
          <a:lstStyle/>
          <a:p>
            <a:pPr algn="ctr">
              <a:lnSpc>
                <a:spcPts val="1306"/>
              </a:lnSpc>
              <a:buNone/>
            </a:pPr>
            <a:r>
              <a:rPr sz="933" b="0" i="0" spc="5">
                <a:solidFill>
                  <a:srgbClr val="000000"/>
                </a:solidFill>
                <a:latin typeface="Montserrat"/>
                <a:ea typeface="Montserrat"/>
              </a:rPr>
              <a:t>The unpaid contributions of the founders exceed the operating profit, leading to a negative SDE of $5,575 in the initial year.</a:t>
            </a:r>
            <a:endParaRPr lang="en-US"/>
          </a:p>
        </p:txBody>
      </p:sp>
      <p:sp>
        <p:nvSpPr>
          <p:cNvPr id="54" name="Shape 54"/>
          <p:cNvSpPr/>
          <p:nvPr/>
        </p:nvSpPr>
        <p:spPr>
          <a:xfrm>
            <a:off x="10858500" y="6238875"/>
            <a:ext cx="600075" cy="189607"/>
          </a:xfrm>
          <a:prstGeom prst="rect">
            <a:avLst/>
          </a:prstGeom>
          <a:noFill/>
        </p:spPr>
        <p:txBody>
          <a:bodyPr anchor="t" wrap="square" tIns="0" bIns="0" lIns="0" rIns="0">
            <a:normAutofit/>
          </a:bodyPr>
          <a:lstStyle/>
          <a:p>
            <a:pPr algn="r">
              <a:lnSpc>
                <a:spcPts val="1493"/>
              </a:lnSpc>
              <a:buNone/>
            </a:pPr>
            <a:r>
              <a:rPr sz="1067" b="1" i="0" spc="6">
                <a:solidFill>
                  <a:srgbClr val="000000"/>
                </a:solidFill>
                <a:latin typeface="Montserrat"/>
                <a:ea typeface="Montserrat"/>
              </a:rPr>
              <a:t>Page</a:t>
            </a:r>
            <a:endParaRPr lang="en-US"/>
          </a:p>
        </p:txBody>
      </p:sp>
      <p:sp>
        <p:nvSpPr>
          <p:cNvPr id="55" name="Shape 55"/>
          <p:cNvSpPr/>
          <p:nvPr/>
        </p:nvSpPr>
        <p:spPr>
          <a:xfrm>
            <a:off x="11382375" y="6238875"/>
            <a:ext cx="323850" cy="189607"/>
          </a:xfrm>
          <a:prstGeom prst="rect">
            <a:avLst/>
          </a:prstGeom>
          <a:noFill/>
        </p:spPr>
        <p:txBody>
          <a:bodyPr anchor="t" wrap="square" tIns="0" bIns="0" lIns="0" rIns="0">
            <a:normAutofit/>
          </a:bodyPr>
          <a:lstStyle/>
          <a:p>
            <a:pPr algn="r">
              <a:lnSpc>
                <a:spcPts val="1493"/>
              </a:lnSpc>
              <a:buNone/>
            </a:pPr>
            <a:r>
              <a:rPr sz="1067" b="0" i="0" spc="6">
                <a:solidFill>
                  <a:srgbClr val="000000"/>
                </a:solidFill>
                <a:latin typeface="Montserrat"/>
                <a:ea typeface="Montserrat"/>
              </a:rPr>
              <a:t>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25" name="Presenton Native Image 26" descr=""/>
          <p:cNvPicPr/>
          <p:nvPr/>
        </p:nvPicPr>
        <p:blipFill>
          <a:blip r:embed="rId2" cstate="none"/>
          <a:stretch>
            <a:fillRect/>
          </a:stretch>
        </p:blipFill>
        <p:spPr>
          <a:xfrm>
            <a:off x="4593282" y="3565475"/>
            <a:ext cx="7598718" cy="3292525"/>
          </a:xfrm>
          <a:prstGeom prst="rect">
            <a:avLst/>
          </a:prstGeom>
        </p:spPr>
      </p:pic>
      <p:pic>
        <p:nvPicPr>
          <p:cNvPr id="126" name="Presenton Native Image 27" descr=""/>
          <p:cNvPicPr/>
          <p:nvPr/>
        </p:nvPicPr>
        <p:blipFill>
          <a:blip r:embed="rId5" cstate="none"/>
          <a:stretch>
            <a:fillRect/>
          </a:stretch>
        </p:blipFill>
        <p:spPr>
          <a:xfrm>
            <a:off x="4064794" y="3153817"/>
            <a:ext cx="8127206" cy="3704183"/>
          </a:xfrm>
          <a:prstGeom prst="rect">
            <a:avLst/>
          </a:prstGeom>
        </p:spPr>
      </p:pic>
      <p:pic>
        <p:nvPicPr>
          <p:cNvPr id="127" name="Presenton Native Image 28" descr=""/>
          <p:cNvPicPr/>
          <p:nvPr/>
        </p:nvPicPr>
        <p:blipFill>
          <a:blip r:embed="rId3" cstate="none"/>
          <a:stretch>
            <a:fillRect/>
          </a:stretch>
        </p:blipFill>
        <p:spPr>
          <a:xfrm>
            <a:off x="0" y="0"/>
            <a:ext cx="5815608" cy="1856333"/>
          </a:xfrm>
          <a:prstGeom prst="rect">
            <a:avLst/>
          </a:prstGeom>
        </p:spPr>
      </p:pic>
      <p:pic>
        <p:nvPicPr>
          <p:cNvPr id="128" name="Presenton Native Image 29" descr=""/>
          <p:cNvPicPr/>
          <p:nvPr/>
        </p:nvPicPr>
        <p:blipFill>
          <a:blip r:embed="rId4" cstate="none"/>
          <a:stretch>
            <a:fillRect/>
          </a:stretch>
        </p:blipFill>
        <p:spPr>
          <a:xfrm>
            <a:off x="0" y="0"/>
            <a:ext cx="5287119" cy="1444675"/>
          </a:xfrm>
          <a:prstGeom prst="rect">
            <a:avLst/>
          </a:prstGeom>
        </p:spPr>
      </p:pic>
      <p:sp>
        <p:nvSpPr>
          <p:cNvPr id="56" name="Shape 56"/>
          <p:cNvSpPr/>
          <p:nvPr/>
        </p:nvSpPr>
        <p:spPr>
          <a:xfrm>
            <a:off x="507950" y="304800"/>
            <a:ext cx="10938123" cy="1303883"/>
          </a:xfrm>
          <a:prstGeom prst="rect">
            <a:avLst/>
          </a:prstGeom>
          <a:noFill/>
        </p:spPr>
        <p:txBody>
          <a:bodyPr anchor="t" wrap="square" tIns="0" bIns="0" lIns="0" rIns="0">
            <a:normAutofit/>
          </a:bodyPr>
          <a:lstStyle/>
          <a:p>
            <a:pPr algn="l">
              <a:lnSpc>
                <a:spcPts val="10267"/>
              </a:lnSpc>
              <a:buNone/>
            </a:pPr>
            <a:r>
              <a:rPr sz="7334" b="0" i="0">
                <a:solidFill>
                  <a:srgbClr val="000000"/>
                </a:solidFill>
                <a:latin typeface="Anton"/>
                <a:ea typeface="Anton"/>
              </a:rPr>
              <a:t>Unit economics</a:t>
            </a:r>
            <a:endParaRPr lang="en-US"/>
          </a:p>
        </p:txBody>
      </p:sp>
      <p:sp>
        <p:nvSpPr>
          <p:cNvPr id="57" name="Shape 57"/>
          <p:cNvSpPr/>
          <p:nvPr/>
        </p:nvSpPr>
        <p:spPr>
          <a:xfrm>
            <a:off x="507950" y="1784747"/>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The place catalog enables the $49/year plan.</a:t>
            </a:r>
            <a:endParaRPr lang="en-US"/>
          </a:p>
        </p:txBody>
      </p:sp>
      <p:sp>
        <p:nvSpPr>
          <p:cNvPr id="58" name="Shape 58"/>
          <p:cNvSpPr/>
          <p:nvPr/>
        </p:nvSpPr>
        <p:spPr>
          <a:xfrm>
            <a:off x="507950" y="22672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Cost per active user before: $10/month.</a:t>
            </a:r>
            <a:endParaRPr lang="en-US"/>
          </a:p>
        </p:txBody>
      </p:sp>
      <p:sp>
        <p:nvSpPr>
          <p:cNvPr id="59" name="Shape 59"/>
          <p:cNvSpPr/>
          <p:nvPr/>
        </p:nvSpPr>
        <p:spPr>
          <a:xfrm>
            <a:off x="507950" y="27497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Cost per active user after: $1.40 to $2.00/month.</a:t>
            </a:r>
            <a:endParaRPr lang="en-US"/>
          </a:p>
        </p:txBody>
      </p:sp>
      <p:sp>
        <p:nvSpPr>
          <p:cNvPr id="60" name="Shape 60"/>
          <p:cNvSpPr/>
          <p:nvPr/>
        </p:nvSpPr>
        <p:spPr>
          <a:xfrm>
            <a:off x="507950" y="3232249"/>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Blended gross margin in Year 3: 69%.</a:t>
            </a:r>
            <a:endParaRPr lang="en-US"/>
          </a:p>
        </p:txBody>
      </p:sp>
      <p:sp>
        <p:nvSpPr>
          <p:cNvPr id="61" name="Shape 61"/>
          <p:cNvSpPr/>
          <p:nvPr/>
        </p:nvSpPr>
        <p:spPr>
          <a:xfrm>
            <a:off x="507950" y="3714750"/>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Advisor seat gross margin: 89%.</a:t>
            </a:r>
            <a:endParaRPr lang="en-US"/>
          </a:p>
        </p:txBody>
      </p:sp>
      <p:sp>
        <p:nvSpPr>
          <p:cNvPr id="62" name="Shape 62"/>
          <p:cNvSpPr/>
          <p:nvPr/>
        </p:nvSpPr>
        <p:spPr>
          <a:xfrm>
            <a:off x="507950" y="4197251"/>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Business capital required: $12,061.</a:t>
            </a:r>
            <a:endParaRPr lang="en-US"/>
          </a:p>
        </p:txBody>
      </p:sp>
      <p:sp>
        <p:nvSpPr>
          <p:cNvPr id="63" name="Shape 63"/>
          <p:cNvSpPr/>
          <p:nvPr/>
        </p:nvSpPr>
        <p:spPr>
          <a:xfrm>
            <a:off x="10859691" y="6242298"/>
            <a:ext cx="601414" cy="189607"/>
          </a:xfrm>
          <a:prstGeom prst="rect">
            <a:avLst/>
          </a:prstGeom>
          <a:noFill/>
        </p:spPr>
        <p:txBody>
          <a:bodyPr anchor="t" wrap="square" tIns="0" bIns="0" lIns="0" rIns="0">
            <a:normAutofit/>
          </a:bodyPr>
          <a:lstStyle/>
          <a:p>
            <a:pPr algn="r">
              <a:lnSpc>
                <a:spcPts val="1493"/>
              </a:lnSpc>
              <a:buNone/>
            </a:pPr>
            <a:r>
              <a:rPr sz="1067" b="1" i="0" spc="6">
                <a:solidFill>
                  <a:srgbClr val="000000"/>
                </a:solidFill>
                <a:latin typeface="Montserrat"/>
                <a:ea typeface="Montserrat"/>
              </a:rPr>
              <a:t>Page</a:t>
            </a:r>
            <a:endParaRPr lang="en-US"/>
          </a:p>
        </p:txBody>
      </p:sp>
      <p:sp>
        <p:nvSpPr>
          <p:cNvPr id="64" name="Shape 64"/>
          <p:cNvSpPr/>
          <p:nvPr/>
        </p:nvSpPr>
        <p:spPr>
          <a:xfrm>
            <a:off x="11442055" y="6242298"/>
            <a:ext cx="319236" cy="189607"/>
          </a:xfrm>
          <a:prstGeom prst="rect">
            <a:avLst/>
          </a:prstGeom>
          <a:noFill/>
        </p:spPr>
        <p:txBody>
          <a:bodyPr anchor="t" wrap="square" tIns="0" bIns="0" lIns="0" rIns="0">
            <a:normAutofit/>
          </a:bodyPr>
          <a:lstStyle/>
          <a:p>
            <a:pPr algn="r">
              <a:lnSpc>
                <a:spcPts val="1493"/>
              </a:lnSpc>
              <a:buNone/>
            </a:pPr>
            <a:r>
              <a:rPr sz="1067" b="0" i="0" spc="6">
                <a:solidFill>
                  <a:srgbClr val="000000"/>
                </a:solidFill>
                <a:latin typeface="Montserrat"/>
                <a:ea typeface="Montserrat"/>
              </a:rPr>
              <a:t>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5" name="Shape 65"/>
          <p:cNvSpPr/>
          <p:nvPr/>
        </p:nvSpPr>
        <p:spPr>
          <a:xfrm>
            <a:off x="504825" y="485775"/>
            <a:ext cx="11201400" cy="460028"/>
          </a:xfrm>
          <a:prstGeom prst="rect">
            <a:avLst/>
          </a:prstGeom>
          <a:noFill/>
        </p:spPr>
        <p:txBody>
          <a:bodyPr anchor="t" wrap="square" tIns="0" bIns="0" lIns="0" rIns="0">
            <a:normAutofit/>
          </a:bodyPr>
          <a:lstStyle/>
          <a:p>
            <a:pPr algn="ctr">
              <a:lnSpc>
                <a:spcPts val="3622"/>
              </a:lnSpc>
              <a:buNone/>
            </a:pPr>
            <a:r>
              <a:rPr sz="3450" b="0" i="0" spc="0">
                <a:solidFill>
                  <a:srgbClr val="000000"/>
                </a:solidFill>
                <a:latin typeface="Anton"/>
                <a:ea typeface="Anton"/>
              </a:rPr>
              <a:t>Seven revenue paths, tested</a:t>
            </a:r>
            <a:endParaRPr lang="en-US"/>
          </a:p>
        </p:txBody>
      </p:sp>
      <p:sp>
        <p:nvSpPr>
          <p:cNvPr id="66" name="Shape 66"/>
          <p:cNvSpPr/>
          <p:nvPr/>
        </p:nvSpPr>
        <p:spPr>
          <a:xfrm>
            <a:off x="1429941" y="1504057"/>
            <a:ext cx="9372600" cy="474166"/>
          </a:xfrm>
          <a:prstGeom prst="rect">
            <a:avLst/>
          </a:prstGeom>
          <a:noFill/>
        </p:spPr>
        <p:txBody>
          <a:bodyPr anchor="t" wrap="square" tIns="0" bIns="0" lIns="0" rIns="0">
            <a:normAutofit/>
          </a:bodyPr>
          <a:lstStyle/>
          <a:p>
            <a:pPr algn="ctr">
              <a:lnSpc>
                <a:spcPts val="1867"/>
              </a:lnSpc>
              <a:buNone/>
            </a:pPr>
            <a:r>
              <a:rPr sz="1334" b="1" i="0" spc="8">
                <a:solidFill>
                  <a:srgbClr val="000000"/>
                </a:solidFill>
                <a:latin typeface="Montserrat Medium"/>
                <a:ea typeface="Montserrat Medium"/>
              </a:rPr>
              <a:t>Grounded Year-3 revenue after checking every input against published prices across various revenue streams.</a:t>
            </a:r>
            <a:endParaRPr lang="en-US"/>
          </a:p>
        </p:txBody>
      </p:sp>
      <p:sp>
        <p:nvSpPr>
          <p:cNvPr id="67" name="Shape 67"/>
          <p:cNvSpPr/>
          <p:nvPr/>
        </p:nvSpPr>
        <p:spPr>
          <a:xfrm>
            <a:off x="3686175" y="2352675"/>
            <a:ext cx="4819650" cy="3905250"/>
          </a:xfrm>
          <a:prstGeom prst="roundRect">
            <a:avLst>
              <a:gd name="adj" fmla="val 3659"/>
            </a:avLst>
          </a:prstGeom>
          <a:solidFill>
            <a:srgbClr val="F8F7FB"/>
          </a:solidFill>
        </p:spPr>
        <p:txBody>
          <a:bodyPr/>
          <a:lstStyle/>
          <a:p/>
        </p:txBody>
      </p:sp>
      <p:pic>
        <p:nvPicPr>
          <p:cNvPr id="129" name="Presenton Native Image 30" descr=""/>
          <p:cNvPicPr/>
          <p:nvPr/>
        </p:nvPicPr>
        <p:blipFill>
          <a:blip r:embed="rId2" cstate="none"/>
          <a:stretch>
            <a:fillRect/>
          </a:stretch>
        </p:blipFill>
        <p:spPr>
          <a:xfrm>
            <a:off x="4381500" y="2514600"/>
            <a:ext cx="3429000" cy="2505075"/>
          </a:xfrm>
          <a:prstGeom prst="rect">
            <a:avLst/>
          </a:prstGeom>
        </p:spPr>
      </p:pic>
      <p:sp>
        <p:nvSpPr>
          <p:cNvPr id="68" name="Shape 68"/>
          <p:cNvSpPr/>
          <p:nvPr/>
        </p:nvSpPr>
        <p:spPr>
          <a:xfrm>
            <a:off x="4543425" y="5248275"/>
            <a:ext cx="3124200" cy="304651"/>
          </a:xfrm>
          <a:prstGeom prst="rect">
            <a:avLst/>
          </a:prstGeom>
          <a:noFill/>
        </p:spPr>
        <p:txBody>
          <a:bodyPr anchor="t" wrap="square" tIns="0" bIns="0" lIns="0" rIns="0">
            <a:normAutofit/>
          </a:bodyPr>
          <a:lstStyle/>
          <a:p>
            <a:pPr algn="ctr">
              <a:lnSpc>
                <a:spcPts val="2400"/>
              </a:lnSpc>
              <a:buNone/>
            </a:pPr>
            <a:r>
              <a:rPr sz="1600" b="1" i="0" spc="9">
                <a:solidFill>
                  <a:srgbClr val="5F4F9B"/>
                </a:solidFill>
                <a:latin typeface="Montserrat"/>
                <a:ea typeface="Montserrat"/>
              </a:rPr>
              <a:t>Revenue Breakdown</a:t>
            </a:r>
            <a:endParaRPr lang="en-US"/>
          </a:p>
        </p:txBody>
      </p:sp>
      <p:sp>
        <p:nvSpPr>
          <p:cNvPr id="69" name="Shape 69"/>
          <p:cNvSpPr/>
          <p:nvPr/>
        </p:nvSpPr>
        <p:spPr>
          <a:xfrm>
            <a:off x="4152900" y="5600700"/>
            <a:ext cx="3905250" cy="331589"/>
          </a:xfrm>
          <a:prstGeom prst="rect">
            <a:avLst/>
          </a:prstGeom>
          <a:noFill/>
        </p:spPr>
        <p:txBody>
          <a:bodyPr anchor="t" wrap="square" tIns="0" bIns="0" lIns="0" rIns="0">
            <a:normAutofit/>
          </a:bodyPr>
          <a:lstStyle/>
          <a:p>
            <a:pPr algn="ctr">
              <a:lnSpc>
                <a:spcPts val="1306"/>
              </a:lnSpc>
              <a:buNone/>
            </a:pPr>
            <a:r>
              <a:rPr sz="933" b="0" i="0" spc="5">
                <a:solidFill>
                  <a:srgbClr val="000000"/>
                </a:solidFill>
                <a:latin typeface="Montserrat"/>
                <a:ea typeface="Montserrat"/>
              </a:rPr>
              <a:t>This chart presents the financial returns from different revenue sources, validating figures through published prices for Year-3.</a:t>
            </a:r>
            <a:endParaRPr lang="en-US"/>
          </a:p>
        </p:txBody>
      </p:sp>
      <p:sp>
        <p:nvSpPr>
          <p:cNvPr id="70" name="Shape 70"/>
          <p:cNvSpPr/>
          <p:nvPr/>
        </p:nvSpPr>
        <p:spPr>
          <a:xfrm>
            <a:off x="10858500" y="6238875"/>
            <a:ext cx="600075" cy="189607"/>
          </a:xfrm>
          <a:prstGeom prst="rect">
            <a:avLst/>
          </a:prstGeom>
          <a:noFill/>
        </p:spPr>
        <p:txBody>
          <a:bodyPr anchor="t" wrap="square" tIns="0" bIns="0" lIns="0" rIns="0">
            <a:normAutofit/>
          </a:bodyPr>
          <a:lstStyle/>
          <a:p>
            <a:pPr algn="r">
              <a:lnSpc>
                <a:spcPts val="1493"/>
              </a:lnSpc>
              <a:buNone/>
            </a:pPr>
            <a:r>
              <a:rPr sz="1067" b="1" i="0" spc="6">
                <a:solidFill>
                  <a:srgbClr val="000000"/>
                </a:solidFill>
                <a:latin typeface="Montserrat"/>
                <a:ea typeface="Montserrat"/>
              </a:rPr>
              <a:t>Page</a:t>
            </a:r>
            <a:endParaRPr lang="en-US"/>
          </a:p>
        </p:txBody>
      </p:sp>
      <p:sp>
        <p:nvSpPr>
          <p:cNvPr id="71" name="Shape 71"/>
          <p:cNvSpPr/>
          <p:nvPr/>
        </p:nvSpPr>
        <p:spPr>
          <a:xfrm>
            <a:off x="11382375" y="6238875"/>
            <a:ext cx="323850" cy="189607"/>
          </a:xfrm>
          <a:prstGeom prst="rect">
            <a:avLst/>
          </a:prstGeom>
          <a:noFill/>
        </p:spPr>
        <p:txBody>
          <a:bodyPr anchor="t" wrap="square" tIns="0" bIns="0" lIns="0" rIns="0">
            <a:normAutofit/>
          </a:bodyPr>
          <a:lstStyle/>
          <a:p>
            <a:pPr algn="r">
              <a:lnSpc>
                <a:spcPts val="1493"/>
              </a:lnSpc>
              <a:buNone/>
            </a:pPr>
            <a:r>
              <a:rPr sz="1067" b="0" i="0" spc="6">
                <a:solidFill>
                  <a:srgbClr val="000000"/>
                </a:solidFill>
                <a:latin typeface="Montserrat"/>
                <a:ea typeface="Montserrat"/>
              </a:rPr>
              <a:t>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30" name="Presenton Native Image 31" descr=""/>
          <p:cNvPicPr/>
          <p:nvPr/>
        </p:nvPicPr>
        <p:blipFill>
          <a:blip r:embed="rId2" cstate="none"/>
          <a:stretch>
            <a:fillRect/>
          </a:stretch>
        </p:blipFill>
        <p:spPr>
          <a:xfrm>
            <a:off x="4593282" y="3565475"/>
            <a:ext cx="7598718" cy="3292525"/>
          </a:xfrm>
          <a:prstGeom prst="rect">
            <a:avLst/>
          </a:prstGeom>
        </p:spPr>
      </p:pic>
      <p:pic>
        <p:nvPicPr>
          <p:cNvPr id="131" name="Presenton Native Image 32" descr=""/>
          <p:cNvPicPr/>
          <p:nvPr/>
        </p:nvPicPr>
        <p:blipFill>
          <a:blip r:embed="rId3" cstate="none"/>
          <a:stretch>
            <a:fillRect/>
          </a:stretch>
        </p:blipFill>
        <p:spPr>
          <a:xfrm>
            <a:off x="4064794" y="3153817"/>
            <a:ext cx="8127206" cy="3704183"/>
          </a:xfrm>
          <a:prstGeom prst="rect">
            <a:avLst/>
          </a:prstGeom>
        </p:spPr>
      </p:pic>
      <p:pic>
        <p:nvPicPr>
          <p:cNvPr id="132" name="Presenton Native Image 33" descr=""/>
          <p:cNvPicPr/>
          <p:nvPr/>
        </p:nvPicPr>
        <p:blipFill>
          <a:blip r:embed="rId4" cstate="none"/>
          <a:stretch>
            <a:fillRect/>
          </a:stretch>
        </p:blipFill>
        <p:spPr>
          <a:xfrm>
            <a:off x="0" y="0"/>
            <a:ext cx="5815608" cy="1856333"/>
          </a:xfrm>
          <a:prstGeom prst="rect">
            <a:avLst/>
          </a:prstGeom>
        </p:spPr>
      </p:pic>
      <p:pic>
        <p:nvPicPr>
          <p:cNvPr id="133" name="Presenton Native Image 34" descr=""/>
          <p:cNvPicPr/>
          <p:nvPr/>
        </p:nvPicPr>
        <p:blipFill>
          <a:blip r:embed="rId5" cstate="none"/>
          <a:stretch>
            <a:fillRect/>
          </a:stretch>
        </p:blipFill>
        <p:spPr>
          <a:xfrm>
            <a:off x="0" y="0"/>
            <a:ext cx="5287119" cy="1444675"/>
          </a:xfrm>
          <a:prstGeom prst="rect">
            <a:avLst/>
          </a:prstGeom>
        </p:spPr>
      </p:pic>
      <p:sp>
        <p:nvSpPr>
          <p:cNvPr id="72" name="Shape 72"/>
          <p:cNvSpPr/>
          <p:nvPr/>
        </p:nvSpPr>
        <p:spPr>
          <a:xfrm>
            <a:off x="507950" y="304800"/>
            <a:ext cx="10938123" cy="1303883"/>
          </a:xfrm>
          <a:prstGeom prst="rect">
            <a:avLst/>
          </a:prstGeom>
          <a:noFill/>
        </p:spPr>
        <p:txBody>
          <a:bodyPr anchor="t" wrap="square" tIns="0" bIns="0" lIns="0" rIns="0">
            <a:normAutofit/>
          </a:bodyPr>
          <a:lstStyle/>
          <a:p>
            <a:pPr algn="l">
              <a:lnSpc>
                <a:spcPts val="10267"/>
              </a:lnSpc>
              <a:buNone/>
            </a:pPr>
            <a:r>
              <a:rPr sz="7334" b="0" i="0">
                <a:solidFill>
                  <a:srgbClr val="000000"/>
                </a:solidFill>
                <a:latin typeface="Anton"/>
                <a:ea typeface="Anton"/>
              </a:rPr>
              <a:t>Portfolio Reality</a:t>
            </a:r>
            <a:endParaRPr lang="en-US"/>
          </a:p>
        </p:txBody>
      </p:sp>
      <p:sp>
        <p:nvSpPr>
          <p:cNvPr id="73" name="Shape 73"/>
          <p:cNvSpPr/>
          <p:nvPr/>
        </p:nvSpPr>
        <p:spPr>
          <a:xfrm>
            <a:off x="507950" y="1784747"/>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Seven paths do not add up; staffing is lacking.</a:t>
            </a:r>
            <a:endParaRPr lang="en-US"/>
          </a:p>
        </p:txBody>
      </p:sp>
      <p:sp>
        <p:nvSpPr>
          <p:cNvPr id="74" name="Shape 74"/>
          <p:cNvSpPr/>
          <p:nvPr/>
        </p:nvSpPr>
        <p:spPr>
          <a:xfrm>
            <a:off x="507950" y="22672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Total stated: $8.15M.</a:t>
            </a:r>
            <a:endParaRPr lang="en-US"/>
          </a:p>
        </p:txBody>
      </p:sp>
      <p:sp>
        <p:nvSpPr>
          <p:cNvPr id="75" name="Shape 75"/>
          <p:cNvSpPr/>
          <p:nvPr/>
        </p:nvSpPr>
        <p:spPr>
          <a:xfrm>
            <a:off x="507950" y="27497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Demand total: $1,103,024 in Year 3.</a:t>
            </a:r>
            <a:endParaRPr lang="en-US"/>
          </a:p>
        </p:txBody>
      </p:sp>
      <p:sp>
        <p:nvSpPr>
          <p:cNvPr id="76" name="Shape 76"/>
          <p:cNvSpPr/>
          <p:nvPr/>
        </p:nvSpPr>
        <p:spPr>
          <a:xfrm>
            <a:off x="507950" y="3232249"/>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Paths 2, 3, 5 overlap trips/costs.</a:t>
            </a:r>
            <a:endParaRPr lang="en-US"/>
          </a:p>
        </p:txBody>
      </p:sp>
      <p:sp>
        <p:nvSpPr>
          <p:cNvPr id="77" name="Shape 77"/>
          <p:cNvSpPr/>
          <p:nvPr/>
        </p:nvSpPr>
        <p:spPr>
          <a:xfrm>
            <a:off x="507950" y="3714750"/>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Paths 1 and 5 share budgets.</a:t>
            </a:r>
            <a:endParaRPr lang="en-US"/>
          </a:p>
        </p:txBody>
      </p:sp>
      <p:sp>
        <p:nvSpPr>
          <p:cNvPr id="78" name="Shape 78"/>
          <p:cNvSpPr/>
          <p:nvPr/>
        </p:nvSpPr>
        <p:spPr>
          <a:xfrm>
            <a:off x="507950" y="4197251"/>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Require 3.34 FTE, only 1.25 available.</a:t>
            </a:r>
            <a:endParaRPr lang="en-US"/>
          </a:p>
        </p:txBody>
      </p:sp>
      <p:sp>
        <p:nvSpPr>
          <p:cNvPr id="79" name="Shape 79"/>
          <p:cNvSpPr/>
          <p:nvPr/>
        </p:nvSpPr>
        <p:spPr>
          <a:xfrm>
            <a:off x="10859691" y="6242298"/>
            <a:ext cx="601414" cy="189607"/>
          </a:xfrm>
          <a:prstGeom prst="rect">
            <a:avLst/>
          </a:prstGeom>
          <a:noFill/>
        </p:spPr>
        <p:txBody>
          <a:bodyPr anchor="t" wrap="square" tIns="0" bIns="0" lIns="0" rIns="0">
            <a:normAutofit/>
          </a:bodyPr>
          <a:lstStyle/>
          <a:p>
            <a:pPr algn="r">
              <a:lnSpc>
                <a:spcPts val="1493"/>
              </a:lnSpc>
              <a:buNone/>
            </a:pPr>
            <a:r>
              <a:rPr sz="1067" b="1" i="0" spc="6">
                <a:solidFill>
                  <a:srgbClr val="000000"/>
                </a:solidFill>
                <a:latin typeface="Montserrat"/>
                <a:ea typeface="Montserrat"/>
              </a:rPr>
              <a:t>Page</a:t>
            </a:r>
            <a:endParaRPr lang="en-US"/>
          </a:p>
        </p:txBody>
      </p:sp>
      <p:sp>
        <p:nvSpPr>
          <p:cNvPr id="80" name="Shape 80"/>
          <p:cNvSpPr/>
          <p:nvPr/>
        </p:nvSpPr>
        <p:spPr>
          <a:xfrm>
            <a:off x="11442055" y="6242298"/>
            <a:ext cx="319236" cy="189607"/>
          </a:xfrm>
          <a:prstGeom prst="rect">
            <a:avLst/>
          </a:prstGeom>
          <a:noFill/>
        </p:spPr>
        <p:txBody>
          <a:bodyPr anchor="t" wrap="square" tIns="0" bIns="0" lIns="0" rIns="0">
            <a:normAutofit/>
          </a:bodyPr>
          <a:lstStyle/>
          <a:p>
            <a:pPr algn="r">
              <a:lnSpc>
                <a:spcPts val="1493"/>
              </a:lnSpc>
              <a:buNone/>
            </a:pPr>
            <a:r>
              <a:rPr sz="1067" b="0" i="0" spc="6">
                <a:solidFill>
                  <a:srgbClr val="000000"/>
                </a:solidFill>
                <a:latin typeface="Montserrat"/>
                <a:ea typeface="Montserrat"/>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34" name="Presenton Native Image 35" descr=""/>
          <p:cNvPicPr/>
          <p:nvPr/>
        </p:nvPicPr>
        <p:blipFill>
          <a:blip r:embed="rId2" cstate="none"/>
          <a:stretch>
            <a:fillRect/>
          </a:stretch>
        </p:blipFill>
        <p:spPr>
          <a:xfrm>
            <a:off x="4593282" y="3565475"/>
            <a:ext cx="7598718" cy="3292525"/>
          </a:xfrm>
          <a:prstGeom prst="rect">
            <a:avLst/>
          </a:prstGeom>
        </p:spPr>
      </p:pic>
      <p:pic>
        <p:nvPicPr>
          <p:cNvPr id="135" name="Presenton Native Image 36" descr=""/>
          <p:cNvPicPr/>
          <p:nvPr/>
        </p:nvPicPr>
        <p:blipFill>
          <a:blip r:embed="rId5" cstate="none"/>
          <a:stretch>
            <a:fillRect/>
          </a:stretch>
        </p:blipFill>
        <p:spPr>
          <a:xfrm>
            <a:off x="4064794" y="3153817"/>
            <a:ext cx="8127206" cy="3704183"/>
          </a:xfrm>
          <a:prstGeom prst="rect">
            <a:avLst/>
          </a:prstGeom>
        </p:spPr>
      </p:pic>
      <p:pic>
        <p:nvPicPr>
          <p:cNvPr id="136" name="Presenton Native Image 37" descr=""/>
          <p:cNvPicPr/>
          <p:nvPr/>
        </p:nvPicPr>
        <p:blipFill>
          <a:blip r:embed="rId3" cstate="none"/>
          <a:stretch>
            <a:fillRect/>
          </a:stretch>
        </p:blipFill>
        <p:spPr>
          <a:xfrm>
            <a:off x="0" y="0"/>
            <a:ext cx="5815608" cy="1856333"/>
          </a:xfrm>
          <a:prstGeom prst="rect">
            <a:avLst/>
          </a:prstGeom>
        </p:spPr>
      </p:pic>
      <p:pic>
        <p:nvPicPr>
          <p:cNvPr id="137" name="Presenton Native Image 38" descr=""/>
          <p:cNvPicPr/>
          <p:nvPr/>
        </p:nvPicPr>
        <p:blipFill>
          <a:blip r:embed="rId4" cstate="none"/>
          <a:stretch>
            <a:fillRect/>
          </a:stretch>
        </p:blipFill>
        <p:spPr>
          <a:xfrm>
            <a:off x="0" y="0"/>
            <a:ext cx="5287119" cy="1444675"/>
          </a:xfrm>
          <a:prstGeom prst="rect">
            <a:avLst/>
          </a:prstGeom>
        </p:spPr>
      </p:pic>
      <p:sp>
        <p:nvSpPr>
          <p:cNvPr id="81" name="Shape 81"/>
          <p:cNvSpPr/>
          <p:nvPr/>
        </p:nvSpPr>
        <p:spPr>
          <a:xfrm>
            <a:off x="507950" y="304800"/>
            <a:ext cx="10938123" cy="1303883"/>
          </a:xfrm>
          <a:prstGeom prst="rect">
            <a:avLst/>
          </a:prstGeom>
          <a:noFill/>
        </p:spPr>
        <p:txBody>
          <a:bodyPr anchor="t" wrap="square" tIns="0" bIns="0" lIns="0" rIns="0">
            <a:normAutofit/>
          </a:bodyPr>
          <a:lstStyle/>
          <a:p>
            <a:pPr algn="l">
              <a:lnSpc>
                <a:spcPts val="10267"/>
              </a:lnSpc>
              <a:buNone/>
            </a:pPr>
            <a:r>
              <a:rPr sz="7334" b="0" i="0">
                <a:solidFill>
                  <a:srgbClr val="000000"/>
                </a:solidFill>
                <a:latin typeface="Anton"/>
                <a:ea typeface="Anton"/>
              </a:rPr>
              <a:t>The Sequence</a:t>
            </a:r>
            <a:endParaRPr lang="en-US"/>
          </a:p>
        </p:txBody>
      </p:sp>
      <p:sp>
        <p:nvSpPr>
          <p:cNvPr id="82" name="Shape 82"/>
          <p:cNvSpPr/>
          <p:nvPr/>
        </p:nvSpPr>
        <p:spPr>
          <a:xfrm>
            <a:off x="507950" y="1784747"/>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Now — corporate and group planning. The only path needing no users</a:t>
            </a:r>
            <a:endParaRPr lang="en-US"/>
          </a:p>
        </p:txBody>
      </p:sp>
      <p:sp>
        <p:nvSpPr>
          <p:cNvPr id="83" name="Shape 83"/>
          <p:cNvSpPr/>
          <p:nvPr/>
        </p:nvSpPr>
        <p:spPr>
          <a:xfrm>
            <a:off x="507950" y="22672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This week — booking links. Near-100% margin, compounds with every</a:t>
            </a:r>
            <a:endParaRPr lang="en-US"/>
          </a:p>
        </p:txBody>
      </p:sp>
      <p:sp>
        <p:nvSpPr>
          <p:cNvPr id="84" name="Shape 84"/>
          <p:cNvSpPr/>
          <p:nvPr/>
        </p:nvSpPr>
        <p:spPr>
          <a:xfrm>
            <a:off x="507950" y="27497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Months 2 to 9 — white-label DMO. Strategic buyer pays a premium</a:t>
            </a:r>
            <a:endParaRPr lang="en-US"/>
          </a:p>
        </p:txBody>
      </p:sp>
      <p:sp>
        <p:nvSpPr>
          <p:cNvPr id="85" name="Shape 85"/>
          <p:cNvSpPr/>
          <p:nvPr/>
        </p:nvSpPr>
        <p:spPr>
          <a:xfrm>
            <a:off x="507950" y="3232249"/>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Months 6 to 18 — membership at $49 to $79. The engine that compo</a:t>
            </a:r>
            <a:endParaRPr lang="en-US"/>
          </a:p>
        </p:txBody>
      </p:sp>
      <p:sp>
        <p:nvSpPr>
          <p:cNvPr id="86" name="Shape 86"/>
          <p:cNvSpPr/>
          <p:nvPr/>
        </p:nvSpPr>
        <p:spPr>
          <a:xfrm>
            <a:off x="10859691" y="6242298"/>
            <a:ext cx="601414" cy="189607"/>
          </a:xfrm>
          <a:prstGeom prst="rect">
            <a:avLst/>
          </a:prstGeom>
          <a:noFill/>
        </p:spPr>
        <p:txBody>
          <a:bodyPr anchor="t" wrap="square" tIns="0" bIns="0" lIns="0" rIns="0">
            <a:normAutofit/>
          </a:bodyPr>
          <a:lstStyle/>
          <a:p>
            <a:pPr algn="r">
              <a:lnSpc>
                <a:spcPts val="1493"/>
              </a:lnSpc>
              <a:buNone/>
            </a:pPr>
            <a:r>
              <a:rPr sz="1067" b="1" i="0" spc="6">
                <a:solidFill>
                  <a:srgbClr val="000000"/>
                </a:solidFill>
                <a:latin typeface="Montserrat"/>
                <a:ea typeface="Montserrat"/>
              </a:rPr>
              <a:t>Page</a:t>
            </a:r>
            <a:endParaRPr lang="en-US"/>
          </a:p>
        </p:txBody>
      </p:sp>
      <p:sp>
        <p:nvSpPr>
          <p:cNvPr id="87" name="Shape 87"/>
          <p:cNvSpPr/>
          <p:nvPr/>
        </p:nvSpPr>
        <p:spPr>
          <a:xfrm>
            <a:off x="11442055" y="6242298"/>
            <a:ext cx="319236" cy="189607"/>
          </a:xfrm>
          <a:prstGeom prst="rect">
            <a:avLst/>
          </a:prstGeom>
          <a:noFill/>
        </p:spPr>
        <p:txBody>
          <a:bodyPr anchor="t" wrap="square" tIns="0" bIns="0" lIns="0" rIns="0">
            <a:normAutofit/>
          </a:bodyPr>
          <a:lstStyle/>
          <a:p>
            <a:pPr algn="r">
              <a:lnSpc>
                <a:spcPts val="1493"/>
              </a:lnSpc>
              <a:buNone/>
            </a:pPr>
            <a:r>
              <a:rPr sz="1067" b="0" i="0" spc="6">
                <a:solidFill>
                  <a:srgbClr val="000000"/>
                </a:solidFill>
                <a:latin typeface="Montserrat"/>
                <a:ea typeface="Montserrat"/>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38" name="Presenton Native Image 39" descr=""/>
          <p:cNvPicPr/>
          <p:nvPr/>
        </p:nvPicPr>
        <p:blipFill>
          <a:blip r:embed="rId2" cstate="none"/>
          <a:stretch>
            <a:fillRect/>
          </a:stretch>
        </p:blipFill>
        <p:spPr>
          <a:xfrm>
            <a:off x="4593282" y="3565475"/>
            <a:ext cx="7598718" cy="3292525"/>
          </a:xfrm>
          <a:prstGeom prst="rect">
            <a:avLst/>
          </a:prstGeom>
        </p:spPr>
      </p:pic>
      <p:pic>
        <p:nvPicPr>
          <p:cNvPr id="139" name="Presenton Native Image 40" descr=""/>
          <p:cNvPicPr/>
          <p:nvPr/>
        </p:nvPicPr>
        <p:blipFill>
          <a:blip r:embed="rId3" cstate="none"/>
          <a:stretch>
            <a:fillRect/>
          </a:stretch>
        </p:blipFill>
        <p:spPr>
          <a:xfrm>
            <a:off x="4064794" y="3153817"/>
            <a:ext cx="8127206" cy="3704183"/>
          </a:xfrm>
          <a:prstGeom prst="rect">
            <a:avLst/>
          </a:prstGeom>
        </p:spPr>
      </p:pic>
      <p:pic>
        <p:nvPicPr>
          <p:cNvPr id="140" name="Presenton Native Image 41" descr=""/>
          <p:cNvPicPr/>
          <p:nvPr/>
        </p:nvPicPr>
        <p:blipFill>
          <a:blip r:embed="rId4" cstate="none"/>
          <a:stretch>
            <a:fillRect/>
          </a:stretch>
        </p:blipFill>
        <p:spPr>
          <a:xfrm>
            <a:off x="0" y="0"/>
            <a:ext cx="5815608" cy="1856333"/>
          </a:xfrm>
          <a:prstGeom prst="rect">
            <a:avLst/>
          </a:prstGeom>
        </p:spPr>
      </p:pic>
      <p:pic>
        <p:nvPicPr>
          <p:cNvPr id="141" name="Presenton Native Image 42" descr=""/>
          <p:cNvPicPr/>
          <p:nvPr/>
        </p:nvPicPr>
        <p:blipFill>
          <a:blip r:embed="rId5" cstate="none"/>
          <a:stretch>
            <a:fillRect/>
          </a:stretch>
        </p:blipFill>
        <p:spPr>
          <a:xfrm>
            <a:off x="0" y="0"/>
            <a:ext cx="5287119" cy="1444675"/>
          </a:xfrm>
          <a:prstGeom prst="rect">
            <a:avLst/>
          </a:prstGeom>
        </p:spPr>
      </p:pic>
      <p:sp>
        <p:nvSpPr>
          <p:cNvPr id="88" name="Shape 88"/>
          <p:cNvSpPr/>
          <p:nvPr/>
        </p:nvSpPr>
        <p:spPr>
          <a:xfrm>
            <a:off x="507950" y="304800"/>
            <a:ext cx="10938123" cy="1303883"/>
          </a:xfrm>
          <a:prstGeom prst="rect">
            <a:avLst/>
          </a:prstGeom>
          <a:noFill/>
        </p:spPr>
        <p:txBody>
          <a:bodyPr anchor="t" wrap="square" tIns="0" bIns="0" lIns="0" rIns="0">
            <a:normAutofit/>
          </a:bodyPr>
          <a:lstStyle/>
          <a:p>
            <a:pPr algn="l">
              <a:lnSpc>
                <a:spcPts val="10267"/>
              </a:lnSpc>
              <a:buNone/>
            </a:pPr>
            <a:r>
              <a:rPr sz="7334" b="0" i="0">
                <a:solidFill>
                  <a:srgbClr val="000000"/>
                </a:solidFill>
                <a:latin typeface="Anton"/>
                <a:ea typeface="Anton"/>
              </a:rPr>
              <a:t>What could kill this</a:t>
            </a:r>
            <a:endParaRPr lang="en-US"/>
          </a:p>
        </p:txBody>
      </p:sp>
      <p:sp>
        <p:nvSpPr>
          <p:cNvPr id="89" name="Shape 89"/>
          <p:cNvSpPr/>
          <p:nvPr/>
        </p:nvSpPr>
        <p:spPr>
          <a:xfrm>
            <a:off x="507950" y="1784747"/>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Consumers will not pay. Signal: Trip Pass conversion under 2% by 8</a:t>
            </a:r>
            <a:endParaRPr lang="en-US"/>
          </a:p>
        </p:txBody>
      </p:sp>
      <p:sp>
        <p:nvSpPr>
          <p:cNvPr id="90" name="Shape 90"/>
          <p:cNvSpPr/>
          <p:nvPr/>
        </p:nvSpPr>
        <p:spPr>
          <a:xfrm>
            <a:off x="10859691" y="6242298"/>
            <a:ext cx="601414" cy="189607"/>
          </a:xfrm>
          <a:prstGeom prst="rect">
            <a:avLst/>
          </a:prstGeom>
          <a:noFill/>
        </p:spPr>
        <p:txBody>
          <a:bodyPr anchor="t" wrap="square" tIns="0" bIns="0" lIns="0" rIns="0">
            <a:normAutofit/>
          </a:bodyPr>
          <a:lstStyle/>
          <a:p>
            <a:pPr algn="r">
              <a:lnSpc>
                <a:spcPts val="1493"/>
              </a:lnSpc>
              <a:buNone/>
            </a:pPr>
            <a:r>
              <a:rPr sz="1067" b="1" i="0" spc="6">
                <a:solidFill>
                  <a:srgbClr val="000000"/>
                </a:solidFill>
                <a:latin typeface="Montserrat"/>
                <a:ea typeface="Montserrat"/>
              </a:rPr>
              <a:t>Page</a:t>
            </a:r>
            <a:endParaRPr lang="en-US"/>
          </a:p>
        </p:txBody>
      </p:sp>
      <p:sp>
        <p:nvSpPr>
          <p:cNvPr id="91" name="Shape 91"/>
          <p:cNvSpPr/>
          <p:nvPr/>
        </p:nvSpPr>
        <p:spPr>
          <a:xfrm>
            <a:off x="11442055" y="6242298"/>
            <a:ext cx="319236" cy="189607"/>
          </a:xfrm>
          <a:prstGeom prst="rect">
            <a:avLst/>
          </a:prstGeom>
          <a:noFill/>
        </p:spPr>
        <p:txBody>
          <a:bodyPr anchor="t" wrap="square" tIns="0" bIns="0" lIns="0" rIns="0">
            <a:normAutofit/>
          </a:bodyPr>
          <a:lstStyle/>
          <a:p>
            <a:pPr algn="r">
              <a:lnSpc>
                <a:spcPts val="1493"/>
              </a:lnSpc>
              <a:buNone/>
            </a:pPr>
            <a:r>
              <a:rPr sz="1067" b="0" i="0" spc="6">
                <a:solidFill>
                  <a:srgbClr val="000000"/>
                </a:solidFill>
                <a:latin typeface="Montserrat"/>
                <a:ea typeface="Montserrat"/>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42" name="Presenton Native Image 43" descr=""/>
          <p:cNvPicPr/>
          <p:nvPr/>
        </p:nvPicPr>
        <p:blipFill>
          <a:blip r:embed="rId2" cstate="none"/>
          <a:stretch>
            <a:fillRect/>
          </a:stretch>
        </p:blipFill>
        <p:spPr>
          <a:xfrm>
            <a:off x="4593282" y="3565475"/>
            <a:ext cx="7598718" cy="3292525"/>
          </a:xfrm>
          <a:prstGeom prst="rect">
            <a:avLst/>
          </a:prstGeom>
        </p:spPr>
      </p:pic>
      <p:pic>
        <p:nvPicPr>
          <p:cNvPr id="143" name="Presenton Native Image 44" descr=""/>
          <p:cNvPicPr/>
          <p:nvPr/>
        </p:nvPicPr>
        <p:blipFill>
          <a:blip r:embed="rId3" cstate="none"/>
          <a:stretch>
            <a:fillRect/>
          </a:stretch>
        </p:blipFill>
        <p:spPr>
          <a:xfrm>
            <a:off x="4064794" y="3153817"/>
            <a:ext cx="8127206" cy="3704183"/>
          </a:xfrm>
          <a:prstGeom prst="rect">
            <a:avLst/>
          </a:prstGeom>
        </p:spPr>
      </p:pic>
      <p:pic>
        <p:nvPicPr>
          <p:cNvPr id="144" name="Presenton Native Image 45" descr=""/>
          <p:cNvPicPr/>
          <p:nvPr/>
        </p:nvPicPr>
        <p:blipFill>
          <a:blip r:embed="rId4" cstate="none"/>
          <a:stretch>
            <a:fillRect/>
          </a:stretch>
        </p:blipFill>
        <p:spPr>
          <a:xfrm>
            <a:off x="0" y="0"/>
            <a:ext cx="5815608" cy="1856333"/>
          </a:xfrm>
          <a:prstGeom prst="rect">
            <a:avLst/>
          </a:prstGeom>
        </p:spPr>
      </p:pic>
      <p:pic>
        <p:nvPicPr>
          <p:cNvPr id="145" name="Presenton Native Image 46" descr=""/>
          <p:cNvPicPr/>
          <p:nvPr/>
        </p:nvPicPr>
        <p:blipFill>
          <a:blip r:embed="rId5" cstate="none"/>
          <a:stretch>
            <a:fillRect/>
          </a:stretch>
        </p:blipFill>
        <p:spPr>
          <a:xfrm>
            <a:off x="0" y="0"/>
            <a:ext cx="5287119" cy="1444675"/>
          </a:xfrm>
          <a:prstGeom prst="rect">
            <a:avLst/>
          </a:prstGeom>
        </p:spPr>
      </p:pic>
      <p:sp>
        <p:nvSpPr>
          <p:cNvPr id="92" name="Shape 92"/>
          <p:cNvSpPr/>
          <p:nvPr/>
        </p:nvSpPr>
        <p:spPr>
          <a:xfrm>
            <a:off x="507950" y="304800"/>
            <a:ext cx="10938123" cy="1303883"/>
          </a:xfrm>
          <a:prstGeom prst="rect">
            <a:avLst/>
          </a:prstGeom>
          <a:noFill/>
        </p:spPr>
        <p:txBody>
          <a:bodyPr anchor="t" wrap="square" tIns="0" bIns="0" lIns="0" rIns="0">
            <a:normAutofit/>
          </a:bodyPr>
          <a:lstStyle/>
          <a:p>
            <a:pPr algn="l">
              <a:lnSpc>
                <a:spcPts val="10267"/>
              </a:lnSpc>
              <a:buNone/>
            </a:pPr>
            <a:r>
              <a:rPr sz="7334" b="0" i="0">
                <a:solidFill>
                  <a:srgbClr val="000000"/>
                </a:solidFill>
                <a:latin typeface="Anton"/>
                <a:ea typeface="Anton"/>
              </a:rPr>
              <a:t>The Ask</a:t>
            </a:r>
            <a:endParaRPr lang="en-US"/>
          </a:p>
        </p:txBody>
      </p:sp>
      <p:sp>
        <p:nvSpPr>
          <p:cNvPr id="93" name="Shape 93"/>
          <p:cNvSpPr/>
          <p:nvPr/>
        </p:nvSpPr>
        <p:spPr>
          <a:xfrm>
            <a:off x="507950" y="1784747"/>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$60,061 and twelve months.</a:t>
            </a:r>
            <a:endParaRPr lang="en-US"/>
          </a:p>
        </p:txBody>
      </p:sp>
      <p:sp>
        <p:nvSpPr>
          <p:cNvPr id="94" name="Shape 94"/>
          <p:cNvSpPr/>
          <p:nvPr/>
        </p:nvSpPr>
        <p:spPr>
          <a:xfrm>
            <a:off x="507950" y="22672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$12,061 for business capital plus $48,000 for runway.</a:t>
            </a:r>
            <a:endParaRPr lang="en-US"/>
          </a:p>
        </p:txBody>
      </p:sp>
      <p:sp>
        <p:nvSpPr>
          <p:cNvPr id="95" name="Shape 95"/>
          <p:cNvSpPr/>
          <p:nvPr/>
        </p:nvSpPr>
        <p:spPr>
          <a:xfrm>
            <a:off x="507950" y="2749748"/>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$25,000 available, $35,061 gap.</a:t>
            </a:r>
            <a:endParaRPr lang="en-US"/>
          </a:p>
        </p:txBody>
      </p:sp>
      <p:sp>
        <p:nvSpPr>
          <p:cNvPr id="96" name="Shape 96"/>
          <p:cNvSpPr/>
          <p:nvPr/>
        </p:nvSpPr>
        <p:spPr>
          <a:xfrm>
            <a:off x="507950" y="3232249"/>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First decision: Close the gap or adjust scenario.</a:t>
            </a:r>
            <a:endParaRPr lang="en-US"/>
          </a:p>
        </p:txBody>
      </p:sp>
      <p:sp>
        <p:nvSpPr>
          <p:cNvPr id="97" name="Shape 97"/>
          <p:cNvSpPr/>
          <p:nvPr/>
        </p:nvSpPr>
        <p:spPr>
          <a:xfrm>
            <a:off x="507950" y="3714750"/>
            <a:ext cx="10309473" cy="379809"/>
          </a:xfrm>
          <a:prstGeom prst="rect">
            <a:avLst/>
          </a:prstGeom>
          <a:noFill/>
        </p:spPr>
        <p:txBody>
          <a:bodyPr anchor="t" wrap="square" tIns="0" bIns="0" lIns="0" rIns="0">
            <a:normAutofit/>
          </a:bodyPr>
          <a:lstStyle/>
          <a:p>
            <a:pPr algn="l">
              <a:lnSpc>
                <a:spcPts val="2992"/>
              </a:lnSpc>
              <a:buNone/>
            </a:pPr>
            <a:r>
              <a:rPr sz="1600" b="1" i="0" spc="9">
                <a:solidFill>
                  <a:srgbClr val="000000"/>
                </a:solidFill>
                <a:latin typeface="Montserrat"/>
                <a:ea typeface="Montserrat"/>
              </a:rPr>
              <a:t>Next step: Sell three trips to test and generate cash.</a:t>
            </a:r>
            <a:endParaRPr lang="en-US"/>
          </a:p>
        </p:txBody>
      </p:sp>
      <p:sp>
        <p:nvSpPr>
          <p:cNvPr id="98" name="Shape 98"/>
          <p:cNvSpPr/>
          <p:nvPr/>
        </p:nvSpPr>
        <p:spPr>
          <a:xfrm>
            <a:off x="10859691" y="6242298"/>
            <a:ext cx="601414" cy="189607"/>
          </a:xfrm>
          <a:prstGeom prst="rect">
            <a:avLst/>
          </a:prstGeom>
          <a:noFill/>
        </p:spPr>
        <p:txBody>
          <a:bodyPr anchor="t" wrap="square" tIns="0" bIns="0" lIns="0" rIns="0">
            <a:normAutofit/>
          </a:bodyPr>
          <a:lstStyle/>
          <a:p>
            <a:pPr algn="r">
              <a:lnSpc>
                <a:spcPts val="1493"/>
              </a:lnSpc>
              <a:buNone/>
            </a:pPr>
            <a:r>
              <a:rPr sz="1067" b="1" i="0" spc="6">
                <a:solidFill>
                  <a:srgbClr val="000000"/>
                </a:solidFill>
                <a:latin typeface="Montserrat"/>
                <a:ea typeface="Montserrat"/>
              </a:rPr>
              <a:t>Page</a:t>
            </a:r>
            <a:endParaRPr lang="en-US"/>
          </a:p>
        </p:txBody>
      </p:sp>
      <p:sp>
        <p:nvSpPr>
          <p:cNvPr id="99" name="Shape 99"/>
          <p:cNvSpPr/>
          <p:nvPr/>
        </p:nvSpPr>
        <p:spPr>
          <a:xfrm>
            <a:off x="11442055" y="6242298"/>
            <a:ext cx="319236" cy="189607"/>
          </a:xfrm>
          <a:prstGeom prst="rect">
            <a:avLst/>
          </a:prstGeom>
          <a:noFill/>
        </p:spPr>
        <p:txBody>
          <a:bodyPr anchor="t" wrap="square" tIns="0" bIns="0" lIns="0" rIns="0">
            <a:normAutofit/>
          </a:bodyPr>
          <a:lstStyle/>
          <a:p>
            <a:pPr algn="r">
              <a:lnSpc>
                <a:spcPts val="1493"/>
              </a:lnSpc>
              <a:buNone/>
            </a:pPr>
            <a:r>
              <a:rPr sz="1067" b="0" i="0" spc="6">
                <a:solidFill>
                  <a:srgbClr val="000000"/>
                </a:solidFill>
                <a:latin typeface="Montserrat"/>
                <a:ea typeface="Montserrat"/>
              </a:rPr>
              <a:t>13</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XPMatch Taste-matched travel planning. A stay, three things to do and three places to eat that fit</dc:title>
  <dc:subject>Generated by Presenton export-core</dc:subject>
  <dc:creator>Presenton</dc:creator>
  <cp:lastModifiedBy>Presenton</cp:lastModifiedBy>
  <dcterms:created xsi:type="dcterms:W3CDTF">2026-09-22T19:02:44.959Z</dcterms:created>
  <dcterms:modified xsi:type="dcterms:W3CDTF">2026-09-22T19:02:44.959Z</dcterms:modified>
</cp:coreProperties>
</file>