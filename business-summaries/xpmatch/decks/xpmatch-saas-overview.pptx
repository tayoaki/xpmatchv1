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40123</c:v>
                </c:pt>
                <c:pt idx="1">
                  <c:v>190673</c:v>
                </c:pt>
                <c:pt idx="2">
                  <c:v>427320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31980</c:v>
                </c:pt>
                <c:pt idx="1">
                  <c:v>131331</c:v>
                </c:pt>
                <c:pt idx="2">
                  <c:v>295873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017520"/>
            <a:ext cx="2377440" cy="2377440"/>
          </a:xfrm>
          <a:prstGeom prst="ellipse">
            <a:avLst/>
          </a:prstGeom>
          <a:solidFill>
            <a:srgbClr val="E8A33D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XPMatch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1012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Taste-matched travel planning. A stay, three things to do and three places to eat that fit you — on a map, in under a minute.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XPMatch, Inc. · Pre-launch. Projections under stated assumptions · Sep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pre-launch business with a working product and no revenue yet.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00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XPMatch is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562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product, the two buyers, and what makes it different from every other AI planner.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505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actually stand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06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revenue, zero customers, no billing. Stated plainly.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300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552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57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projection, unit economics, and what a buyer would see.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12394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1513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05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revenue paths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407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validated against published market prices.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9743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50017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9560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sequence, the risks, the ask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257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first, what could kill it, what we need.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XPMatch 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two buyers, one thing nobody else sells.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EEF3F5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TRAVELLER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$49/year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28–45 taking two to four leisure trips a year. Their current system is 40 open tabs, Google Maps lists and saved Instagram reels.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FDF3E2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1206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$49/seat/mo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travel advisors, 0–3 years in the profession, who rebuild the same client proposal every time. 15,000+ sit inside Fora alone.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landed in 2026 that did not exist before.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007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travellers who used AI to plan travel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27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276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3408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3591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2267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travellers who did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267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2677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809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29992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2907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advisors who charge a planning fee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907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907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62102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3639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3547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advisors — 97% new to the profession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5478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15,000+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5478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2611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2793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 acquired the AI planner Layla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187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2026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1879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ACTUALLY STAND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revenue. Zero customers.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way to accept payment.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built and in production. The commercial gates are all still ahead.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is a projection with no trading history behind it — and 20 of 38 modelled assumptions are unverified.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offer ladder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priced offers, anchored to verified competitor pricing.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EF3F5"/>
          </a:solidFill>
          <a:ln/>
          <a:effectLst>
            <a:outerShdw sx="100000" sy="100000" kx="0" ky="0" algn="bl" rotWithShape="0" blurRad="114300" dist="25400" dir="5400000">
              <a:srgbClr val="9AAAB2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9504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Pass — one trip, 60 days. The low-friction first purchase at the moment of intent.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72768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0F3D4C"/>
          </a:solidFill>
          <a:ln/>
          <a:effectLst>
            <a:outerShdw sx="100000" sy="100000" kx="0" ky="0" algn="bl" rotWithShape="0" blurRad="114300" dist="25400" dir="5400000">
              <a:srgbClr val="9AAAB2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$49/yr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889504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— unlimited trips and packages. Priced against Layla $49.99, TripIt Pro $49.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572768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EF3F5"/>
          </a:solidFill>
          <a:ln/>
          <a:effectLst>
            <a:outerShdw sx="100000" sy="100000" kx="0" ky="0" algn="bl" rotWithShape="0" blurRad="114300" dist="25400" dir="5400000">
              <a:srgbClr val="9AAAB2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ENGINE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$49/mo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889504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seats — 89% gross margin, ~$1,600 lifetime value, a $400 CAC ceiling.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2-financial-model.xlsx. 1,761 live formulas, verified to the cent.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81328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727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55080" y="16550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892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$427,320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172200" y="24871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55080" y="2569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gross profit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807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$295,873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172200" y="34015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34838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margin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7216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SDE is negative: −$5,575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work is what makes a $49/year plan possible at all.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007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active user, before the place catalog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27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~$10/mo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276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3408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3591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2267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active user, after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267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$1.40–2.00/mo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2677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809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29992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2907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margin, blended Year 3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907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907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62102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3639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3547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seat gross margin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5478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5478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2611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2793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capital required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187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$12,061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1879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revenue paths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Year-3 revenue after testing every input against published prices.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007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· White-label DMO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27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$324,000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276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3408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3591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2267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7 · Premium membership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267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$261,250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2677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809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29992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2907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4 · Group / corporate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907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$202,500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907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62102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3639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3547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 · Booking commissions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5478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$189,274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5478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2611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2793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2, 5, 6 combined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187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$282,000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1879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REALITY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paths do not add up —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we could not staff them.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together they total $8.15M. Counting each unit of demand once they total $1,103,024 in Year 3.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paths switched on require 3.34 FTE against 1.25 available. The honest question is not 'all seven' — it is 'which two'.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sequence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moves, in order. The other three paths wait or get cut.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00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corporate and group planning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562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path needing no users, no volume and no integration. Same motion as concierge at 10–30× the ticket.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505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— booking links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06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 two days of work, near-100% margin, compounds silently with every trip planned.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300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552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2–9 — white-label DMO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57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6–18 month procurement cycle now. It is the only path a strategic buyer pays a premium for.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12394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1513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05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6–18 — membership at $49–79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407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compounds, priced where the market actually is rather than 3.6× above 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kill this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honestly, with the signal that would tell us early.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00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will not pay for another travel app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562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 Trip Pass conversion under 2% by week 8. Response: the consumer tier becomes a funnel, not a revenue 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505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builds it natively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06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already answers travel questions in AI Mode and books hotels directly. Only the advisor segment would survive.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300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552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set our margin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57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and OpenRouter pricing decide gross margin and we control neither.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12394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41513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05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concentration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407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holds every customer relationship. A buyer discounts heavily for that.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$60,061 — and twelve months.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$12,061 of business capital plus $48,000 of founder runway for a year with no draw.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$25,000 available that is a $35,061 gap. Closing it, or choosing the scenario that does not need it, is the first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017520"/>
            <a:ext cx="2377440" cy="2377440"/>
          </a:xfrm>
          <a:prstGeom prst="ellipse">
            <a:avLst/>
          </a:prstGeom>
          <a:solidFill>
            <a:srgbClr val="E8A33D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three trips.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we will know.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1012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paid concierge or corporate trips is the cheapest test that can kill or confirm this plan — and it produces the first cash while doing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Tayo Aki · tradingtacos@gmail.com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2026-09-22T16:47:13Z</dcterms:created>
  <dcterms:modified xsi:type="dcterms:W3CDTF">2026-09-22T16:47:13Z</dcterms:modified>
</cp:coreProperties>
</file>