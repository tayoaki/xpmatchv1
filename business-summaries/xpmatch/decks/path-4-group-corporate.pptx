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54000</c:v>
                </c:pt>
                <c:pt idx="1">
                  <c:v>135000</c:v>
                </c:pt>
                <c:pt idx="2">
                  <c:v>202500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34200</c:v>
                </c:pt>
                <c:pt idx="1">
                  <c:v>85500</c:v>
                </c:pt>
                <c:pt idx="2">
                  <c:v>128250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D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C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05840"/>
            <a:ext cx="3840480" cy="384048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2377440" cy="2377440"/>
          </a:xfrm>
          <a:prstGeom prst="ellipse">
            <a:avLst/>
          </a:prstGeom>
          <a:solidFill>
            <a:srgbClr val="E8A33D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&amp;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Planning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1012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fees per attendee-night, plus supplier commission and package margin.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XPMatch, Inc. · Projections under stated assumptions · Sep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claim, and the check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verified. Inputs tested against published prices, September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EEF3F5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$750,000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group trips at $7,500 net each.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exact. The cited comparable is not.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517904"/>
            <a:ext cx="3749040" cy="2880360"/>
          </a:xfrm>
          <a:prstGeom prst="roundRect">
            <a:avLst>
              <a:gd name="adj" fmla="val 3175"/>
            </a:avLst>
          </a:prstGeom>
          <a:solidFill>
            <a:srgbClr val="FDF3E2"/>
          </a:solidFill>
          <a:ln/>
          <a:effectLst>
            <a:outerShdw sx="100000" sy="100000" kx="0" ky="0" algn="bl" rotWithShape="0" blurRad="127000" dist="25400" dir="5400000">
              <a:srgbClr val="9AAAB2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SAYS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2996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is free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charges no planning fee — it monetises hotel bookings. But the real retreat market does pay, and your $25–100 per attendee-night is a credible 4–12% of trip cost.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market actually pays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 = verified against a cited public source · [E] estimated · [A] assumed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190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52144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retreat, all-in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27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$400–700 pp/night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2763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234086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" y="235915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22677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executive offsite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2677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$750–1,200 pp/night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26771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298094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299923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29077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offsite total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07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$3,500–6,500 pp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907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F7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36210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36393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domestic, no flights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5478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$1,000–1,800 pp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54787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11290"/>
            </a:avLst>
          </a:prstGeom>
          <a:solidFill>
            <a:srgbClr val="EE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2611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187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Pilot's planning fee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1879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18795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hours.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services P&amp;L.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22 hours per group trip, 100 trips is 2,200 hours — more than a full FTE beyond the founders, and realistically two once sales and corporate procurement are counted.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$750,000 is revenue, not profit.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scenario from 5-revenue-paths-model.xlsx. Change a driver and this moves.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81328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727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55080" y="16550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8928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$202,500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172200" y="24871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55080" y="2569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gross profit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8072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$128,250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172200" y="340156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EF3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34838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margin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7216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172200" y="4370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FTE required: 0.72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true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conditions. If any fails, the path does not deliver.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6002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544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the first trip to a company you know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562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users, no volume, no integration required. Just a buyer.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24505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contractor planner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0662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~$1,200 per trip delivered. The founders cannot absorb 45 trips a year.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3300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552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corporate procurement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570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6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liability, insurance. Slower than selling to an individual.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834640"/>
            <a:ext cx="3291840" cy="32918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35024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fastest path to a real dollar.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this month.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motion as your concierge offer, sold to companies instead of individuals, at 10–30× the ticket.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weakness: it does not compound and does not transfer to an acquirer.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2026-09-22T16:45:16Z</dcterms:created>
  <dcterms:modified xsi:type="dcterms:W3CDTF">2026-09-22T16:45:16Z</dcterms:modified>
</cp:coreProperties>
</file>